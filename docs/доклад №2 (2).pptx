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88" r:id="rId8"/>
    <p:sldId id="269" r:id="rId9"/>
    <p:sldId id="287" r:id="rId10"/>
    <p:sldId id="271" r:id="rId11"/>
    <p:sldId id="272" r:id="rId12"/>
    <p:sldId id="280" r:id="rId13"/>
    <p:sldId id="281" r:id="rId14"/>
    <p:sldId id="282" r:id="rId15"/>
    <p:sldId id="283" r:id="rId16"/>
    <p:sldId id="274" r:id="rId17"/>
    <p:sldId id="276" r:id="rId18"/>
    <p:sldId id="284" r:id="rId19"/>
    <p:sldId id="285" r:id="rId20"/>
    <p:sldId id="286" r:id="rId21"/>
    <p:sldId id="273" r:id="rId22"/>
    <p:sldId id="270" r:id="rId23"/>
    <p:sldId id="275" r:id="rId24"/>
    <p:sldId id="261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8650" y="4660129"/>
            <a:ext cx="5486400" cy="947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1" cap="all" normalizeH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  <a:endParaRPr lang="en-US" dirty="0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C6CA1428-B36B-6718-3686-B2FDE858DE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187" y="455062"/>
            <a:ext cx="1936909" cy="334249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BF4CDBDE-7C80-5330-0698-8F73C94E1593}"/>
              </a:ext>
            </a:extLst>
          </p:cNvPr>
          <p:cNvSpPr/>
          <p:nvPr/>
        </p:nvSpPr>
        <p:spPr>
          <a:xfrm>
            <a:off x="628649" y="384681"/>
            <a:ext cx="488777" cy="488777"/>
          </a:xfrm>
          <a:custGeom>
            <a:avLst/>
            <a:gdLst/>
            <a:ahLst/>
            <a:cxnLst/>
            <a:rect l="l" t="t" r="r" b="b"/>
            <a:pathLst>
              <a:path w="396240" h="396240">
                <a:moveTo>
                  <a:pt x="245262" y="214896"/>
                </a:moveTo>
                <a:lnTo>
                  <a:pt x="233426" y="214896"/>
                </a:lnTo>
                <a:lnTo>
                  <a:pt x="233832" y="219125"/>
                </a:lnTo>
                <a:lnTo>
                  <a:pt x="234073" y="224396"/>
                </a:lnTo>
                <a:lnTo>
                  <a:pt x="234188" y="231482"/>
                </a:lnTo>
                <a:lnTo>
                  <a:pt x="234188" y="251802"/>
                </a:lnTo>
                <a:lnTo>
                  <a:pt x="234073" y="259511"/>
                </a:lnTo>
                <a:lnTo>
                  <a:pt x="233832" y="265163"/>
                </a:lnTo>
                <a:lnTo>
                  <a:pt x="233426" y="269557"/>
                </a:lnTo>
                <a:lnTo>
                  <a:pt x="245262" y="269557"/>
                </a:lnTo>
                <a:lnTo>
                  <a:pt x="244868" y="265163"/>
                </a:lnTo>
                <a:lnTo>
                  <a:pt x="244614" y="259511"/>
                </a:lnTo>
                <a:lnTo>
                  <a:pt x="244500" y="251802"/>
                </a:lnTo>
                <a:lnTo>
                  <a:pt x="244500" y="231482"/>
                </a:lnTo>
                <a:lnTo>
                  <a:pt x="244614" y="224396"/>
                </a:lnTo>
                <a:lnTo>
                  <a:pt x="244868" y="219125"/>
                </a:lnTo>
                <a:lnTo>
                  <a:pt x="245262" y="214896"/>
                </a:lnTo>
                <a:close/>
              </a:path>
              <a:path w="396240" h="396240">
                <a:moveTo>
                  <a:pt x="296684" y="247853"/>
                </a:moveTo>
                <a:lnTo>
                  <a:pt x="293471" y="243878"/>
                </a:lnTo>
                <a:lnTo>
                  <a:pt x="292900" y="243166"/>
                </a:lnTo>
                <a:lnTo>
                  <a:pt x="286004" y="240982"/>
                </a:lnTo>
                <a:lnTo>
                  <a:pt x="291807" y="238874"/>
                </a:lnTo>
                <a:lnTo>
                  <a:pt x="291985" y="238633"/>
                </a:lnTo>
                <a:lnTo>
                  <a:pt x="295071" y="234505"/>
                </a:lnTo>
                <a:lnTo>
                  <a:pt x="295071" y="219354"/>
                </a:lnTo>
                <a:lnTo>
                  <a:pt x="294589" y="218973"/>
                </a:lnTo>
                <a:lnTo>
                  <a:pt x="288251" y="213969"/>
                </a:lnTo>
                <a:lnTo>
                  <a:pt x="285419" y="213969"/>
                </a:lnTo>
                <a:lnTo>
                  <a:pt x="285419" y="261594"/>
                </a:lnTo>
                <a:lnTo>
                  <a:pt x="282003" y="265582"/>
                </a:lnTo>
                <a:lnTo>
                  <a:pt x="270967" y="265582"/>
                </a:lnTo>
                <a:lnTo>
                  <a:pt x="267423" y="261442"/>
                </a:lnTo>
                <a:lnTo>
                  <a:pt x="267423" y="247853"/>
                </a:lnTo>
                <a:lnTo>
                  <a:pt x="270827" y="243878"/>
                </a:lnTo>
                <a:lnTo>
                  <a:pt x="281940" y="243878"/>
                </a:lnTo>
                <a:lnTo>
                  <a:pt x="285343" y="247929"/>
                </a:lnTo>
                <a:lnTo>
                  <a:pt x="285419" y="261594"/>
                </a:lnTo>
                <a:lnTo>
                  <a:pt x="285419" y="213969"/>
                </a:lnTo>
                <a:lnTo>
                  <a:pt x="284111" y="213969"/>
                </a:lnTo>
                <a:lnTo>
                  <a:pt x="284111" y="222719"/>
                </a:lnTo>
                <a:lnTo>
                  <a:pt x="284111" y="234975"/>
                </a:lnTo>
                <a:lnTo>
                  <a:pt x="281203" y="238633"/>
                </a:lnTo>
                <a:lnTo>
                  <a:pt x="271627" y="238633"/>
                </a:lnTo>
                <a:lnTo>
                  <a:pt x="268719" y="234975"/>
                </a:lnTo>
                <a:lnTo>
                  <a:pt x="268643" y="222554"/>
                </a:lnTo>
                <a:lnTo>
                  <a:pt x="271551" y="218973"/>
                </a:lnTo>
                <a:lnTo>
                  <a:pt x="281203" y="218973"/>
                </a:lnTo>
                <a:lnTo>
                  <a:pt x="284111" y="222719"/>
                </a:lnTo>
                <a:lnTo>
                  <a:pt x="284111" y="213969"/>
                </a:lnTo>
                <a:lnTo>
                  <a:pt x="264731" y="213969"/>
                </a:lnTo>
                <a:lnTo>
                  <a:pt x="257721" y="219354"/>
                </a:lnTo>
                <a:lnTo>
                  <a:pt x="257683" y="234886"/>
                </a:lnTo>
                <a:lnTo>
                  <a:pt x="260883" y="239026"/>
                </a:lnTo>
                <a:lnTo>
                  <a:pt x="266763" y="241134"/>
                </a:lnTo>
                <a:lnTo>
                  <a:pt x="259943" y="243332"/>
                </a:lnTo>
                <a:lnTo>
                  <a:pt x="256209" y="248018"/>
                </a:lnTo>
                <a:lnTo>
                  <a:pt x="256095" y="264795"/>
                </a:lnTo>
                <a:lnTo>
                  <a:pt x="263499" y="270573"/>
                </a:lnTo>
                <a:lnTo>
                  <a:pt x="276123" y="270573"/>
                </a:lnTo>
                <a:lnTo>
                  <a:pt x="284835" y="269494"/>
                </a:lnTo>
                <a:lnTo>
                  <a:pt x="291312" y="266369"/>
                </a:lnTo>
                <a:lnTo>
                  <a:pt x="291947" y="265582"/>
                </a:lnTo>
                <a:lnTo>
                  <a:pt x="295351" y="261353"/>
                </a:lnTo>
                <a:lnTo>
                  <a:pt x="296659" y="255041"/>
                </a:lnTo>
                <a:lnTo>
                  <a:pt x="296684" y="247853"/>
                </a:lnTo>
                <a:close/>
              </a:path>
              <a:path w="396240" h="396240">
                <a:moveTo>
                  <a:pt x="345046" y="247853"/>
                </a:moveTo>
                <a:lnTo>
                  <a:pt x="341833" y="243878"/>
                </a:lnTo>
                <a:lnTo>
                  <a:pt x="341261" y="243166"/>
                </a:lnTo>
                <a:lnTo>
                  <a:pt x="334365" y="240982"/>
                </a:lnTo>
                <a:lnTo>
                  <a:pt x="340169" y="238874"/>
                </a:lnTo>
                <a:lnTo>
                  <a:pt x="340347" y="238633"/>
                </a:lnTo>
                <a:lnTo>
                  <a:pt x="343433" y="234505"/>
                </a:lnTo>
                <a:lnTo>
                  <a:pt x="343433" y="219354"/>
                </a:lnTo>
                <a:lnTo>
                  <a:pt x="342950" y="218973"/>
                </a:lnTo>
                <a:lnTo>
                  <a:pt x="336613" y="213969"/>
                </a:lnTo>
                <a:lnTo>
                  <a:pt x="333781" y="213969"/>
                </a:lnTo>
                <a:lnTo>
                  <a:pt x="333781" y="261594"/>
                </a:lnTo>
                <a:lnTo>
                  <a:pt x="330365" y="265582"/>
                </a:lnTo>
                <a:lnTo>
                  <a:pt x="319328" y="265582"/>
                </a:lnTo>
                <a:lnTo>
                  <a:pt x="315785" y="261442"/>
                </a:lnTo>
                <a:lnTo>
                  <a:pt x="315785" y="247853"/>
                </a:lnTo>
                <a:lnTo>
                  <a:pt x="319189" y="243878"/>
                </a:lnTo>
                <a:lnTo>
                  <a:pt x="330301" y="243878"/>
                </a:lnTo>
                <a:lnTo>
                  <a:pt x="333705" y="247929"/>
                </a:lnTo>
                <a:lnTo>
                  <a:pt x="333781" y="261594"/>
                </a:lnTo>
                <a:lnTo>
                  <a:pt x="333781" y="213969"/>
                </a:lnTo>
                <a:lnTo>
                  <a:pt x="332473" y="213969"/>
                </a:lnTo>
                <a:lnTo>
                  <a:pt x="332473" y="222719"/>
                </a:lnTo>
                <a:lnTo>
                  <a:pt x="332473" y="234975"/>
                </a:lnTo>
                <a:lnTo>
                  <a:pt x="329565" y="238633"/>
                </a:lnTo>
                <a:lnTo>
                  <a:pt x="319989" y="238633"/>
                </a:lnTo>
                <a:lnTo>
                  <a:pt x="317068" y="234975"/>
                </a:lnTo>
                <a:lnTo>
                  <a:pt x="317004" y="222554"/>
                </a:lnTo>
                <a:lnTo>
                  <a:pt x="319913" y="218973"/>
                </a:lnTo>
                <a:lnTo>
                  <a:pt x="329565" y="218973"/>
                </a:lnTo>
                <a:lnTo>
                  <a:pt x="332473" y="222719"/>
                </a:lnTo>
                <a:lnTo>
                  <a:pt x="332473" y="213969"/>
                </a:lnTo>
                <a:lnTo>
                  <a:pt x="313093" y="213969"/>
                </a:lnTo>
                <a:lnTo>
                  <a:pt x="306070" y="219354"/>
                </a:lnTo>
                <a:lnTo>
                  <a:pt x="306031" y="234886"/>
                </a:lnTo>
                <a:lnTo>
                  <a:pt x="309245" y="239026"/>
                </a:lnTo>
                <a:lnTo>
                  <a:pt x="315125" y="241134"/>
                </a:lnTo>
                <a:lnTo>
                  <a:pt x="308305" y="243332"/>
                </a:lnTo>
                <a:lnTo>
                  <a:pt x="304546" y="248018"/>
                </a:lnTo>
                <a:lnTo>
                  <a:pt x="304444" y="264795"/>
                </a:lnTo>
                <a:lnTo>
                  <a:pt x="311861" y="270573"/>
                </a:lnTo>
                <a:lnTo>
                  <a:pt x="324485" y="270573"/>
                </a:lnTo>
                <a:lnTo>
                  <a:pt x="333184" y="269494"/>
                </a:lnTo>
                <a:lnTo>
                  <a:pt x="339661" y="266369"/>
                </a:lnTo>
                <a:lnTo>
                  <a:pt x="340309" y="265582"/>
                </a:lnTo>
                <a:lnTo>
                  <a:pt x="343712" y="261353"/>
                </a:lnTo>
                <a:lnTo>
                  <a:pt x="345008" y="255041"/>
                </a:lnTo>
                <a:lnTo>
                  <a:pt x="345046" y="247853"/>
                </a:lnTo>
                <a:close/>
              </a:path>
              <a:path w="396240" h="396240">
                <a:moveTo>
                  <a:pt x="392823" y="240423"/>
                </a:moveTo>
                <a:lnTo>
                  <a:pt x="392214" y="239801"/>
                </a:lnTo>
                <a:lnTo>
                  <a:pt x="386880" y="234340"/>
                </a:lnTo>
                <a:lnTo>
                  <a:pt x="382016" y="234340"/>
                </a:lnTo>
                <a:lnTo>
                  <a:pt x="382016" y="245262"/>
                </a:lnTo>
                <a:lnTo>
                  <a:pt x="381914" y="260642"/>
                </a:lnTo>
                <a:lnTo>
                  <a:pt x="379031" y="265252"/>
                </a:lnTo>
                <a:lnTo>
                  <a:pt x="368427" y="265252"/>
                </a:lnTo>
                <a:lnTo>
                  <a:pt x="364883" y="260642"/>
                </a:lnTo>
                <a:lnTo>
                  <a:pt x="364299" y="246202"/>
                </a:lnTo>
                <a:lnTo>
                  <a:pt x="366179" y="244017"/>
                </a:lnTo>
                <a:lnTo>
                  <a:pt x="369239" y="241515"/>
                </a:lnTo>
                <a:lnTo>
                  <a:pt x="379107" y="241515"/>
                </a:lnTo>
                <a:lnTo>
                  <a:pt x="382016" y="245262"/>
                </a:lnTo>
                <a:lnTo>
                  <a:pt x="382016" y="234340"/>
                </a:lnTo>
                <a:lnTo>
                  <a:pt x="370751" y="234340"/>
                </a:lnTo>
                <a:lnTo>
                  <a:pt x="366699" y="237147"/>
                </a:lnTo>
                <a:lnTo>
                  <a:pt x="364223" y="239801"/>
                </a:lnTo>
                <a:lnTo>
                  <a:pt x="364591" y="227469"/>
                </a:lnTo>
                <a:lnTo>
                  <a:pt x="368147" y="219036"/>
                </a:lnTo>
                <a:lnTo>
                  <a:pt x="383895" y="219036"/>
                </a:lnTo>
                <a:lnTo>
                  <a:pt x="387464" y="225590"/>
                </a:lnTo>
                <a:lnTo>
                  <a:pt x="387464" y="219036"/>
                </a:lnTo>
                <a:lnTo>
                  <a:pt x="387426" y="215900"/>
                </a:lnTo>
                <a:lnTo>
                  <a:pt x="383540" y="213956"/>
                </a:lnTo>
                <a:lnTo>
                  <a:pt x="376351" y="213956"/>
                </a:lnTo>
                <a:lnTo>
                  <a:pt x="366826" y="215912"/>
                </a:lnTo>
                <a:lnTo>
                  <a:pt x="359384" y="221576"/>
                </a:lnTo>
                <a:lnTo>
                  <a:pt x="354495" y="230759"/>
                </a:lnTo>
                <a:lnTo>
                  <a:pt x="352755" y="243243"/>
                </a:lnTo>
                <a:lnTo>
                  <a:pt x="354164" y="255485"/>
                </a:lnTo>
                <a:lnTo>
                  <a:pt x="358254" y="263994"/>
                </a:lnTo>
                <a:lnTo>
                  <a:pt x="364782" y="268960"/>
                </a:lnTo>
                <a:lnTo>
                  <a:pt x="373519" y="270560"/>
                </a:lnTo>
                <a:lnTo>
                  <a:pt x="381685" y="269214"/>
                </a:lnTo>
                <a:lnTo>
                  <a:pt x="387743" y="265353"/>
                </a:lnTo>
                <a:lnTo>
                  <a:pt x="391515" y="259308"/>
                </a:lnTo>
                <a:lnTo>
                  <a:pt x="392823" y="251358"/>
                </a:lnTo>
                <a:lnTo>
                  <a:pt x="392823" y="241515"/>
                </a:lnTo>
                <a:lnTo>
                  <a:pt x="392823" y="240423"/>
                </a:lnTo>
                <a:close/>
              </a:path>
              <a:path w="396240" h="396240">
                <a:moveTo>
                  <a:pt x="396113" y="192557"/>
                </a:moveTo>
                <a:lnTo>
                  <a:pt x="396100" y="192417"/>
                </a:lnTo>
                <a:lnTo>
                  <a:pt x="395820" y="189979"/>
                </a:lnTo>
                <a:lnTo>
                  <a:pt x="395465" y="186918"/>
                </a:lnTo>
                <a:lnTo>
                  <a:pt x="392976" y="165277"/>
                </a:lnTo>
                <a:lnTo>
                  <a:pt x="380822" y="120281"/>
                </a:lnTo>
                <a:lnTo>
                  <a:pt x="356730" y="79400"/>
                </a:lnTo>
                <a:lnTo>
                  <a:pt x="356730" y="160324"/>
                </a:lnTo>
                <a:lnTo>
                  <a:pt x="349377" y="160997"/>
                </a:lnTo>
                <a:lnTo>
                  <a:pt x="342798" y="140906"/>
                </a:lnTo>
                <a:lnTo>
                  <a:pt x="333565" y="121640"/>
                </a:lnTo>
                <a:lnTo>
                  <a:pt x="321652" y="103479"/>
                </a:lnTo>
                <a:lnTo>
                  <a:pt x="311480" y="91808"/>
                </a:lnTo>
                <a:lnTo>
                  <a:pt x="311480" y="164426"/>
                </a:lnTo>
                <a:lnTo>
                  <a:pt x="302171" y="165277"/>
                </a:lnTo>
                <a:lnTo>
                  <a:pt x="282092" y="127342"/>
                </a:lnTo>
                <a:lnTo>
                  <a:pt x="263728" y="110540"/>
                </a:lnTo>
                <a:lnTo>
                  <a:pt x="263728" y="168744"/>
                </a:lnTo>
                <a:lnTo>
                  <a:pt x="62852" y="186918"/>
                </a:lnTo>
                <a:lnTo>
                  <a:pt x="81026" y="144678"/>
                </a:lnTo>
                <a:lnTo>
                  <a:pt x="126276" y="109359"/>
                </a:lnTo>
                <a:lnTo>
                  <a:pt x="165836" y="101663"/>
                </a:lnTo>
                <a:lnTo>
                  <a:pt x="205397" y="109359"/>
                </a:lnTo>
                <a:lnTo>
                  <a:pt x="240182" y="132448"/>
                </a:lnTo>
                <a:lnTo>
                  <a:pt x="263728" y="168744"/>
                </a:lnTo>
                <a:lnTo>
                  <a:pt x="263728" y="110540"/>
                </a:lnTo>
                <a:lnTo>
                  <a:pt x="250355" y="101663"/>
                </a:lnTo>
                <a:lnTo>
                  <a:pt x="231038" y="88836"/>
                </a:lnTo>
                <a:lnTo>
                  <a:pt x="184213" y="79717"/>
                </a:lnTo>
                <a:lnTo>
                  <a:pt x="137375" y="88836"/>
                </a:lnTo>
                <a:lnTo>
                  <a:pt x="96215" y="116166"/>
                </a:lnTo>
                <a:lnTo>
                  <a:pt x="72605" y="149377"/>
                </a:lnTo>
                <a:lnTo>
                  <a:pt x="61302" y="187058"/>
                </a:lnTo>
                <a:lnTo>
                  <a:pt x="29083" y="189979"/>
                </a:lnTo>
                <a:lnTo>
                  <a:pt x="42329" y="145275"/>
                </a:lnTo>
                <a:lnTo>
                  <a:pt x="70294" y="105905"/>
                </a:lnTo>
                <a:lnTo>
                  <a:pt x="108038" y="78651"/>
                </a:lnTo>
                <a:lnTo>
                  <a:pt x="150876" y="65024"/>
                </a:lnTo>
                <a:lnTo>
                  <a:pt x="195402" y="65024"/>
                </a:lnTo>
                <a:lnTo>
                  <a:pt x="238239" y="78651"/>
                </a:lnTo>
                <a:lnTo>
                  <a:pt x="275983" y="105905"/>
                </a:lnTo>
                <a:lnTo>
                  <a:pt x="305447" y="148653"/>
                </a:lnTo>
                <a:lnTo>
                  <a:pt x="311480" y="164426"/>
                </a:lnTo>
                <a:lnTo>
                  <a:pt x="311480" y="91808"/>
                </a:lnTo>
                <a:lnTo>
                  <a:pt x="307022" y="86690"/>
                </a:lnTo>
                <a:lnTo>
                  <a:pt x="278612" y="65024"/>
                </a:lnTo>
                <a:lnTo>
                  <a:pt x="272186" y="60121"/>
                </a:lnTo>
                <a:lnTo>
                  <a:pt x="232956" y="44170"/>
                </a:lnTo>
                <a:lnTo>
                  <a:pt x="191516" y="38849"/>
                </a:lnTo>
                <a:lnTo>
                  <a:pt x="150075" y="44170"/>
                </a:lnTo>
                <a:lnTo>
                  <a:pt x="110845" y="60121"/>
                </a:lnTo>
                <a:lnTo>
                  <a:pt x="76009" y="86690"/>
                </a:lnTo>
                <a:lnTo>
                  <a:pt x="42710" y="135026"/>
                </a:lnTo>
                <a:lnTo>
                  <a:pt x="28917" y="189992"/>
                </a:lnTo>
                <a:lnTo>
                  <a:pt x="10299" y="191668"/>
                </a:lnTo>
                <a:lnTo>
                  <a:pt x="279" y="192417"/>
                </a:lnTo>
                <a:lnTo>
                  <a:pt x="4775" y="160997"/>
                </a:lnTo>
                <a:lnTo>
                  <a:pt x="4889" y="160324"/>
                </a:lnTo>
                <a:lnTo>
                  <a:pt x="31115" y="100520"/>
                </a:lnTo>
                <a:lnTo>
                  <a:pt x="91452" y="44805"/>
                </a:lnTo>
                <a:lnTo>
                  <a:pt x="134924" y="27139"/>
                </a:lnTo>
                <a:lnTo>
                  <a:pt x="180822" y="21247"/>
                </a:lnTo>
                <a:lnTo>
                  <a:pt x="226733" y="27139"/>
                </a:lnTo>
                <a:lnTo>
                  <a:pt x="270192" y="44805"/>
                </a:lnTo>
                <a:lnTo>
                  <a:pt x="308787" y="74244"/>
                </a:lnTo>
                <a:lnTo>
                  <a:pt x="339217" y="114693"/>
                </a:lnTo>
                <a:lnTo>
                  <a:pt x="356730" y="160324"/>
                </a:lnTo>
                <a:lnTo>
                  <a:pt x="356730" y="79400"/>
                </a:lnTo>
                <a:lnTo>
                  <a:pt x="302399" y="28422"/>
                </a:lnTo>
                <a:lnTo>
                  <a:pt x="262369" y="9474"/>
                </a:lnTo>
                <a:lnTo>
                  <a:pt x="219811" y="0"/>
                </a:lnTo>
                <a:lnTo>
                  <a:pt x="176415" y="0"/>
                </a:lnTo>
                <a:lnTo>
                  <a:pt x="133858" y="9474"/>
                </a:lnTo>
                <a:lnTo>
                  <a:pt x="93814" y="28422"/>
                </a:lnTo>
                <a:lnTo>
                  <a:pt x="57988" y="56845"/>
                </a:lnTo>
                <a:lnTo>
                  <a:pt x="33248" y="86982"/>
                </a:lnTo>
                <a:lnTo>
                  <a:pt x="4330" y="155778"/>
                </a:lnTo>
                <a:lnTo>
                  <a:pt x="0" y="199351"/>
                </a:lnTo>
                <a:lnTo>
                  <a:pt x="114" y="196748"/>
                </a:lnTo>
                <a:lnTo>
                  <a:pt x="406" y="209410"/>
                </a:lnTo>
                <a:lnTo>
                  <a:pt x="6311" y="247700"/>
                </a:lnTo>
                <a:lnTo>
                  <a:pt x="22796" y="290372"/>
                </a:lnTo>
                <a:lnTo>
                  <a:pt x="47701" y="326999"/>
                </a:lnTo>
                <a:lnTo>
                  <a:pt x="79578" y="356743"/>
                </a:lnTo>
                <a:lnTo>
                  <a:pt x="116992" y="378726"/>
                </a:lnTo>
                <a:lnTo>
                  <a:pt x="158483" y="392125"/>
                </a:lnTo>
                <a:lnTo>
                  <a:pt x="202590" y="396074"/>
                </a:lnTo>
                <a:lnTo>
                  <a:pt x="247891" y="389712"/>
                </a:lnTo>
                <a:lnTo>
                  <a:pt x="265938" y="383146"/>
                </a:lnTo>
                <a:lnTo>
                  <a:pt x="283464" y="376770"/>
                </a:lnTo>
                <a:lnTo>
                  <a:pt x="315023" y="357911"/>
                </a:lnTo>
                <a:lnTo>
                  <a:pt x="342099" y="333959"/>
                </a:lnTo>
                <a:lnTo>
                  <a:pt x="364223" y="305739"/>
                </a:lnTo>
                <a:lnTo>
                  <a:pt x="363855" y="305739"/>
                </a:lnTo>
                <a:lnTo>
                  <a:pt x="343865" y="329730"/>
                </a:lnTo>
                <a:lnTo>
                  <a:pt x="319836" y="350100"/>
                </a:lnTo>
                <a:lnTo>
                  <a:pt x="292138" y="366179"/>
                </a:lnTo>
                <a:lnTo>
                  <a:pt x="261124" y="377317"/>
                </a:lnTo>
                <a:lnTo>
                  <a:pt x="212940" y="383146"/>
                </a:lnTo>
                <a:lnTo>
                  <a:pt x="166509" y="376351"/>
                </a:lnTo>
                <a:lnTo>
                  <a:pt x="123952" y="358165"/>
                </a:lnTo>
                <a:lnTo>
                  <a:pt x="87363" y="329831"/>
                </a:lnTo>
                <a:lnTo>
                  <a:pt x="58839" y="292569"/>
                </a:lnTo>
                <a:lnTo>
                  <a:pt x="40500" y="247624"/>
                </a:lnTo>
                <a:lnTo>
                  <a:pt x="34861" y="206743"/>
                </a:lnTo>
                <a:lnTo>
                  <a:pt x="35001" y="196748"/>
                </a:lnTo>
                <a:lnTo>
                  <a:pt x="35077" y="192557"/>
                </a:lnTo>
                <a:lnTo>
                  <a:pt x="43281" y="192557"/>
                </a:lnTo>
                <a:lnTo>
                  <a:pt x="43345" y="203695"/>
                </a:lnTo>
                <a:lnTo>
                  <a:pt x="44170" y="214909"/>
                </a:lnTo>
                <a:lnTo>
                  <a:pt x="64731" y="277736"/>
                </a:lnTo>
                <a:lnTo>
                  <a:pt x="90297" y="311137"/>
                </a:lnTo>
                <a:lnTo>
                  <a:pt x="123101" y="336537"/>
                </a:lnTo>
                <a:lnTo>
                  <a:pt x="161239" y="352844"/>
                </a:lnTo>
                <a:lnTo>
                  <a:pt x="202857" y="358940"/>
                </a:lnTo>
                <a:lnTo>
                  <a:pt x="246049" y="353707"/>
                </a:lnTo>
                <a:lnTo>
                  <a:pt x="268859" y="345922"/>
                </a:lnTo>
                <a:lnTo>
                  <a:pt x="269646" y="345503"/>
                </a:lnTo>
                <a:lnTo>
                  <a:pt x="289699" y="335102"/>
                </a:lnTo>
                <a:lnTo>
                  <a:pt x="308444" y="321602"/>
                </a:lnTo>
                <a:lnTo>
                  <a:pt x="324929" y="305739"/>
                </a:lnTo>
                <a:lnTo>
                  <a:pt x="324713" y="305739"/>
                </a:lnTo>
                <a:lnTo>
                  <a:pt x="303631" y="322351"/>
                </a:lnTo>
                <a:lnTo>
                  <a:pt x="279666" y="334860"/>
                </a:lnTo>
                <a:lnTo>
                  <a:pt x="253326" y="342760"/>
                </a:lnTo>
                <a:lnTo>
                  <a:pt x="225132" y="345503"/>
                </a:lnTo>
                <a:lnTo>
                  <a:pt x="194818" y="342328"/>
                </a:lnTo>
                <a:lnTo>
                  <a:pt x="141427" y="318833"/>
                </a:lnTo>
                <a:lnTo>
                  <a:pt x="117436" y="297459"/>
                </a:lnTo>
                <a:lnTo>
                  <a:pt x="116992" y="296976"/>
                </a:lnTo>
                <a:lnTo>
                  <a:pt x="90030" y="253530"/>
                </a:lnTo>
                <a:lnTo>
                  <a:pt x="80670" y="214477"/>
                </a:lnTo>
                <a:lnTo>
                  <a:pt x="80086" y="203695"/>
                </a:lnTo>
                <a:lnTo>
                  <a:pt x="80289" y="192557"/>
                </a:lnTo>
                <a:lnTo>
                  <a:pt x="89585" y="192557"/>
                </a:lnTo>
                <a:lnTo>
                  <a:pt x="89535" y="203695"/>
                </a:lnTo>
                <a:lnTo>
                  <a:pt x="89966" y="211201"/>
                </a:lnTo>
                <a:lnTo>
                  <a:pt x="114909" y="274459"/>
                </a:lnTo>
                <a:lnTo>
                  <a:pt x="150660" y="306057"/>
                </a:lnTo>
                <a:lnTo>
                  <a:pt x="195656" y="321932"/>
                </a:lnTo>
                <a:lnTo>
                  <a:pt x="245008" y="319214"/>
                </a:lnTo>
                <a:lnTo>
                  <a:pt x="253517" y="316674"/>
                </a:lnTo>
                <a:lnTo>
                  <a:pt x="258737" y="314667"/>
                </a:lnTo>
                <a:lnTo>
                  <a:pt x="261683" y="313550"/>
                </a:lnTo>
                <a:lnTo>
                  <a:pt x="269506" y="309892"/>
                </a:lnTo>
                <a:lnTo>
                  <a:pt x="276999" y="305739"/>
                </a:lnTo>
                <a:lnTo>
                  <a:pt x="274650" y="305739"/>
                </a:lnTo>
                <a:lnTo>
                  <a:pt x="264566" y="309549"/>
                </a:lnTo>
                <a:lnTo>
                  <a:pt x="254038" y="312343"/>
                </a:lnTo>
                <a:lnTo>
                  <a:pt x="243128" y="314083"/>
                </a:lnTo>
                <a:lnTo>
                  <a:pt x="231876" y="314667"/>
                </a:lnTo>
                <a:lnTo>
                  <a:pt x="189865" y="306197"/>
                </a:lnTo>
                <a:lnTo>
                  <a:pt x="155549" y="283057"/>
                </a:lnTo>
                <a:lnTo>
                  <a:pt x="132422" y="248754"/>
                </a:lnTo>
                <a:lnTo>
                  <a:pt x="123939" y="206743"/>
                </a:lnTo>
                <a:lnTo>
                  <a:pt x="123939" y="201841"/>
                </a:lnTo>
                <a:lnTo>
                  <a:pt x="124409" y="197231"/>
                </a:lnTo>
                <a:lnTo>
                  <a:pt x="125056" y="192557"/>
                </a:lnTo>
                <a:lnTo>
                  <a:pt x="396113" y="192557"/>
                </a:lnTo>
                <a:close/>
              </a:path>
            </a:pathLst>
          </a:custGeom>
          <a:solidFill>
            <a:srgbClr val="0533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B686145-5076-A23D-E771-4FE42174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057744"/>
            <a:ext cx="5486400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15" name="Дата 14">
            <a:extLst>
              <a:ext uri="{FF2B5EF4-FFF2-40B4-BE49-F238E27FC236}">
                <a16:creationId xmlns:a16="http://schemas.microsoft.com/office/drawing/2014/main" id="{9A4FEA7D-DD48-D2DE-3D61-8547D699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EE7C-E81F-424C-831A-BCFC36EBEBD9}" type="datetime1">
              <a:rPr lang="ru-RU" smtClean="0"/>
              <a:t>04.04.2026</a:t>
            </a:fld>
            <a:endParaRPr lang="ru-RU"/>
          </a:p>
        </p:txBody>
      </p:sp>
      <p:sp>
        <p:nvSpPr>
          <p:cNvPr id="16" name="Нижний колонтитул 15">
            <a:extLst>
              <a:ext uri="{FF2B5EF4-FFF2-40B4-BE49-F238E27FC236}">
                <a16:creationId xmlns:a16="http://schemas.microsoft.com/office/drawing/2014/main" id="{4B668A3F-068C-5AB9-7B3B-274C027B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C65E834B-3ADC-B74A-E816-E3277C34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57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EDCCB-90EE-EF95-6E34-747A29144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2766218"/>
            <a:ext cx="8474042" cy="1325563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709041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31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без подпис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40661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вертикальны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B5EAA507-A5C0-CCF7-7A6D-5C6E3F49065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60822" y="932154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398331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178566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объекта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Общее описание объектов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2877542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Два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2285030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3012142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3009260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02FB4B37-9085-46CB-53B2-2742AFC67A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2" y="5683958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10" name="Объект 5">
            <a:extLst>
              <a:ext uri="{FF2B5EF4-FFF2-40B4-BE49-F238E27FC236}">
                <a16:creationId xmlns:a16="http://schemas.microsoft.com/office/drawing/2014/main" id="{2B45CD4C-4193-0D96-F6C2-28C22F31134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4963" y="3603972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AA37682D-1483-1C53-BBFE-4F1AB77001A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60822" y="3603971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C6741EA-283C-2549-5F75-2B1CA8F9E5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60822" y="5681076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89704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увеличенн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2168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149049"/>
            <a:ext cx="8474058" cy="10215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332537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3519457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35194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E3447064-7B5D-A991-6E9B-5CCC95A4B0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21" name="Текст 19">
            <a:extLst>
              <a:ext uri="{FF2B5EF4-FFF2-40B4-BE49-F238E27FC236}">
                <a16:creationId xmlns:a16="http://schemas.microsoft.com/office/drawing/2014/main" id="{0474384D-7AB2-0BF1-DC5B-EAE531126B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</p:spTree>
    <p:extLst>
      <p:ext uri="{BB962C8B-B14F-4D97-AF65-F5344CB8AC3E}">
        <p14:creationId xmlns:p14="http://schemas.microsoft.com/office/powerpoint/2010/main" val="2831598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1 заключ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51591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C5D8ED6-A851-F284-5AF5-591F5B1366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5"/>
            <a:ext cx="8474075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737778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2 заключ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245377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20003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CE5C7308-439B-D698-C660-406EC02B5B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6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1</a:t>
            </a:r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C1ABE563-3AA3-1069-4FCB-164A97DA6D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960" y="5791202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2</a:t>
            </a:r>
          </a:p>
        </p:txBody>
      </p:sp>
    </p:spTree>
    <p:extLst>
      <p:ext uri="{BB962C8B-B14F-4D97-AF65-F5344CB8AC3E}">
        <p14:creationId xmlns:p14="http://schemas.microsoft.com/office/powerpoint/2010/main" val="186921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 с 4 колонками разного цве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04.04.2026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таблицы</a:t>
            </a:r>
          </a:p>
        </p:txBody>
      </p:sp>
      <p:sp>
        <p:nvSpPr>
          <p:cNvPr id="8" name="Таблица 7">
            <a:extLst>
              <a:ext uri="{FF2B5EF4-FFF2-40B4-BE49-F238E27FC236}">
                <a16:creationId xmlns:a16="http://schemas.microsoft.com/office/drawing/2014/main" id="{34B1A4FE-B536-E0F9-61DF-882D104CEC1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704004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4</a:t>
            </a:r>
          </a:p>
        </p:txBody>
      </p:sp>
      <p:sp>
        <p:nvSpPr>
          <p:cNvPr id="9" name="Таблица 7">
            <a:extLst>
              <a:ext uri="{FF2B5EF4-FFF2-40B4-BE49-F238E27FC236}">
                <a16:creationId xmlns:a16="http://schemas.microsoft.com/office/drawing/2014/main" id="{DC67AC0E-B2D8-FF2A-D7CB-759DD10FB555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571992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3</a:t>
            </a:r>
          </a:p>
        </p:txBody>
      </p:sp>
      <p:sp>
        <p:nvSpPr>
          <p:cNvPr id="10" name="Таблица 7">
            <a:extLst>
              <a:ext uri="{FF2B5EF4-FFF2-40B4-BE49-F238E27FC236}">
                <a16:creationId xmlns:a16="http://schemas.microsoft.com/office/drawing/2014/main" id="{410536BE-5206-0FBD-B36C-75305260A5A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2466975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2</a:t>
            </a:r>
          </a:p>
        </p:txBody>
      </p:sp>
      <p:sp>
        <p:nvSpPr>
          <p:cNvPr id="11" name="Таблица 7">
            <a:extLst>
              <a:ext uri="{FF2B5EF4-FFF2-40B4-BE49-F238E27FC236}">
                <a16:creationId xmlns:a16="http://schemas.microsoft.com/office/drawing/2014/main" id="{BE4D96F0-0691-DBFC-88C4-DEC53EB44D5B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34963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1</a:t>
            </a:r>
          </a:p>
        </p:txBody>
      </p:sp>
    </p:spTree>
    <p:extLst>
      <p:ext uri="{BB962C8B-B14F-4D97-AF65-F5344CB8AC3E}">
        <p14:creationId xmlns:p14="http://schemas.microsoft.com/office/powerpoint/2010/main" val="376431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4979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00CFD-2F7C-41E9-890A-B2E9A2C15AD6}" type="datetime1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7891" y="6356351"/>
            <a:ext cx="4048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1621" y="63563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&lt;#&gt;</a:t>
            </a:r>
            <a:endParaRPr lang="ru-RU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F8A58065-522B-35AD-B07A-0024CDA9E855}"/>
              </a:ext>
            </a:extLst>
          </p:cNvPr>
          <p:cNvGrpSpPr/>
          <p:nvPr/>
        </p:nvGrpSpPr>
        <p:grpSpPr>
          <a:xfrm>
            <a:off x="0" y="-1"/>
            <a:ext cx="9143804" cy="671119"/>
            <a:chOff x="-530" y="12"/>
            <a:chExt cx="7561580" cy="55499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A8862889-5E18-A23B-40A6-A9301FC66181}"/>
                </a:ext>
              </a:extLst>
            </p:cNvPr>
            <p:cNvSpPr/>
            <p:nvPr/>
          </p:nvSpPr>
          <p:spPr>
            <a:xfrm>
              <a:off x="0" y="12"/>
              <a:ext cx="553720" cy="554355"/>
            </a:xfrm>
            <a:custGeom>
              <a:avLst/>
              <a:gdLst/>
              <a:ahLst/>
              <a:cxnLst/>
              <a:rect l="l" t="t" r="r" b="b"/>
              <a:pathLst>
                <a:path w="553720" h="554355">
                  <a:moveTo>
                    <a:pt x="553643" y="0"/>
                  </a:moveTo>
                  <a:lnTo>
                    <a:pt x="0" y="0"/>
                  </a:lnTo>
                  <a:lnTo>
                    <a:pt x="0" y="554316"/>
                  </a:lnTo>
                  <a:lnTo>
                    <a:pt x="553643" y="554316"/>
                  </a:lnTo>
                  <a:lnTo>
                    <a:pt x="553643" y="0"/>
                  </a:lnTo>
                  <a:close/>
                </a:path>
              </a:pathLst>
            </a:custGeom>
            <a:solidFill>
              <a:srgbClr val="0533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14BC4447-673D-5860-F426-3C9E799A7E68}"/>
                </a:ext>
              </a:extLst>
            </p:cNvPr>
            <p:cNvSpPr/>
            <p:nvPr/>
          </p:nvSpPr>
          <p:spPr>
            <a:xfrm>
              <a:off x="-530" y="552737"/>
              <a:ext cx="7561580" cy="0"/>
            </a:xfrm>
            <a:custGeom>
              <a:avLst/>
              <a:gdLst/>
              <a:ahLst/>
              <a:cxnLst/>
              <a:rect l="l" t="t" r="r" b="b"/>
              <a:pathLst>
                <a:path w="7561580">
                  <a:moveTo>
                    <a:pt x="0" y="0"/>
                  </a:moveTo>
                  <a:lnTo>
                    <a:pt x="7561211" y="0"/>
                  </a:lnTo>
                </a:path>
              </a:pathLst>
            </a:custGeom>
            <a:ln w="3810">
              <a:solidFill>
                <a:srgbClr val="0533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7629104-D3D5-45AA-5B55-A7BD2D9EF09A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247" y="87630"/>
              <a:ext cx="378477" cy="378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042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652" r:id="rId3"/>
    <p:sldLayoutId id="2147483653" r:id="rId4"/>
    <p:sldLayoutId id="2147483656" r:id="rId5"/>
    <p:sldLayoutId id="2147483654" r:id="rId6"/>
    <p:sldLayoutId id="2147483657" r:id="rId7"/>
    <p:sldLayoutId id="2147483659" r:id="rId8"/>
    <p:sldLayoutId id="2147483663" r:id="rId9"/>
    <p:sldLayoutId id="2147483655" r:id="rId10"/>
    <p:sldLayoutId id="2147483658" r:id="rId11"/>
    <p:sldLayoutId id="2147483661" r:id="rId12"/>
    <p:sldLayoutId id="2147483660" r:id="rId13"/>
    <p:sldLayoutId id="214748366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CEE0C4C6-D337-497C-83B2-BE8256EB71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Михайлов </a:t>
            </a:r>
            <a:r>
              <a:rPr lang="ru-RU" dirty="0" err="1"/>
              <a:t>н.ф</a:t>
            </a:r>
            <a:r>
              <a:rPr lang="ru-RU" dirty="0"/>
              <a:t>., Дегтярева </a:t>
            </a:r>
            <a:r>
              <a:rPr lang="ru-RU" dirty="0" err="1"/>
              <a:t>м.и</a:t>
            </a:r>
            <a:r>
              <a:rPr lang="ru-RU" dirty="0"/>
              <a:t>. </a:t>
            </a:r>
            <a:br>
              <a:rPr lang="ru-RU" dirty="0"/>
            </a:br>
            <a:r>
              <a:rPr lang="ru-RU" dirty="0"/>
              <a:t>Группа 3376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0D48B7B-2660-4F32-8121-6374F615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57744"/>
            <a:ext cx="7433170" cy="1325563"/>
          </a:xfrm>
        </p:spPr>
        <p:txBody>
          <a:bodyPr>
            <a:normAutofit/>
          </a:bodyPr>
          <a:lstStyle/>
          <a:p>
            <a:r>
              <a:rPr lang="ru-RU" dirty="0"/>
              <a:t>Доклад №</a:t>
            </a:r>
            <a:r>
              <a:rPr lang="en-US" dirty="0"/>
              <a:t>2</a:t>
            </a:r>
            <a:br>
              <a:rPr lang="ru-RU" dirty="0"/>
            </a:br>
            <a:r>
              <a:rPr lang="ru-RU" sz="2900" dirty="0"/>
              <a:t>по дисциплине большие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294257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4403C-4507-4C3F-AB1E-6223FF0C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Планируемые этапы анализа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61F14D-38B4-41D9-BF40-B3D47CB9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2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494A0-BBB0-49C9-9A3D-9D83CEE483A5}"/>
              </a:ext>
            </a:extLst>
          </p:cNvPr>
          <p:cNvSpPr txBox="1"/>
          <p:nvPr/>
        </p:nvSpPr>
        <p:spPr>
          <a:xfrm>
            <a:off x="546893" y="1128504"/>
            <a:ext cx="82621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/>
              <a:t>Загрузка данных</a:t>
            </a:r>
          </a:p>
          <a:p>
            <a:pPr marL="342900" indent="-342900">
              <a:buAutoNum type="arabicPeriod"/>
            </a:pPr>
            <a:r>
              <a:rPr lang="ru-RU" b="1" dirty="0"/>
              <a:t>Преобразование данных: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отделение столбца выходного значения </a:t>
            </a:r>
            <a:r>
              <a:rPr lang="en-US" dirty="0"/>
              <a:t>(target)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Преобразование </a:t>
            </a:r>
            <a:r>
              <a:rPr lang="en-US" dirty="0"/>
              <a:t>raw</a:t>
            </a:r>
            <a:r>
              <a:rPr lang="ru-RU" dirty="0"/>
              <a:t>-данных в </a:t>
            </a:r>
            <a:r>
              <a:rPr lang="el-GR" dirty="0"/>
              <a:t>φ‑</a:t>
            </a:r>
            <a:r>
              <a:rPr lang="en-US" dirty="0"/>
              <a:t>features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стандартизация признаков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Проверка баланса классов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Последовательный запуск логистической регрессии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измерение времени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u-RU" dirty="0"/>
              <a:t>от объема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Параллельный запуск логистической регрессии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измерение времени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u-RU" dirty="0"/>
              <a:t>от объема данных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u-RU" dirty="0"/>
              <a:t>от числа вычислителей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Построение графиков зависимости времени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Выводы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1399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E468E-89D6-4343-BC3B-7BABFCBA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Инструменты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4ABD2DE-AAA3-4197-8DE6-55C669C2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C1DE-C142-4B5F-B861-5FA5D9E7CD3E}"/>
              </a:ext>
            </a:extLst>
          </p:cNvPr>
          <p:cNvSpPr txBox="1"/>
          <p:nvPr/>
        </p:nvSpPr>
        <p:spPr>
          <a:xfrm>
            <a:off x="775726" y="964902"/>
            <a:ext cx="4578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Инструменты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34EDC-9794-47CE-A109-77E178104383}"/>
              </a:ext>
            </a:extLst>
          </p:cNvPr>
          <p:cNvSpPr txBox="1"/>
          <p:nvPr/>
        </p:nvSpPr>
        <p:spPr>
          <a:xfrm>
            <a:off x="775725" y="1489409"/>
            <a:ext cx="791107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Хранение данных:</a:t>
            </a:r>
          </a:p>
          <a:p>
            <a:r>
              <a:rPr lang="en-US" dirty="0"/>
              <a:t>Yandex Cloud Object Storage</a:t>
            </a:r>
            <a:endParaRPr lang="ru-RU" dirty="0"/>
          </a:p>
          <a:p>
            <a:endParaRPr lang="ru-RU" dirty="0"/>
          </a:p>
          <a:p>
            <a:r>
              <a:rPr lang="ru-RU" b="1" dirty="0"/>
              <a:t>Среда исполнения:</a:t>
            </a:r>
            <a:endParaRPr lang="ru-RU" dirty="0"/>
          </a:p>
          <a:p>
            <a:r>
              <a:rPr lang="en-US" dirty="0"/>
              <a:t>Yandex </a:t>
            </a:r>
            <a:r>
              <a:rPr lang="en-US" dirty="0" err="1"/>
              <a:t>DataSphere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endParaRPr lang="ru-RU" dirty="0"/>
          </a:p>
          <a:p>
            <a:r>
              <a:rPr lang="ru-RU" b="1" dirty="0"/>
              <a:t>Алгоритм:</a:t>
            </a:r>
          </a:p>
          <a:p>
            <a:r>
              <a:rPr lang="ru-RU" dirty="0"/>
              <a:t>Логистическая регрессия с L1-регуляризацией (</a:t>
            </a:r>
            <a:r>
              <a:rPr lang="ru-RU" dirty="0" err="1"/>
              <a:t>Sparse</a:t>
            </a:r>
            <a:r>
              <a:rPr lang="ru-RU" dirty="0"/>
              <a:t> </a:t>
            </a:r>
            <a:r>
              <a:rPr lang="ru-RU" dirty="0" err="1"/>
              <a:t>Logistic</a:t>
            </a:r>
            <a:r>
              <a:rPr lang="ru-RU" dirty="0"/>
              <a:t> </a:t>
            </a:r>
            <a:r>
              <a:rPr lang="ru-RU" dirty="0" err="1"/>
              <a:t>Regression</a:t>
            </a:r>
            <a:r>
              <a:rPr lang="ru-RU" dirty="0"/>
              <a:t>)</a:t>
            </a:r>
          </a:p>
          <a:p>
            <a:r>
              <a:rPr lang="ru-RU" dirty="0"/>
              <a:t>Реализация: </a:t>
            </a:r>
            <a:r>
              <a:rPr lang="en-US" dirty="0" err="1"/>
              <a:t>sklearn.linear_model.LogisticRegression</a:t>
            </a:r>
            <a:br>
              <a:rPr lang="ru-RU" dirty="0"/>
            </a:br>
            <a:br>
              <a:rPr lang="ru-RU" dirty="0"/>
            </a:br>
            <a:r>
              <a:rPr lang="ru-RU" b="1" dirty="0"/>
              <a:t>Используемые библиотеки: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pathlib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b="0" i="0" dirty="0">
                <a:effectLst/>
                <a:latin typeface="pplxSerif"/>
              </a:rPr>
              <a:t>работа с путями к файлам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numpy</a:t>
            </a:r>
            <a:r>
              <a:rPr lang="ru-RU" dirty="0"/>
              <a:t> - </a:t>
            </a:r>
            <a:r>
              <a:rPr lang="ru-RU" b="0" i="0" dirty="0">
                <a:effectLst/>
                <a:latin typeface="pplxSerif"/>
              </a:rPr>
              <a:t>числовые вычисления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csv</a:t>
            </a:r>
            <a:r>
              <a:rPr lang="ru-RU" dirty="0"/>
              <a:t> -</a:t>
            </a:r>
            <a:r>
              <a:rPr lang="en-US" dirty="0"/>
              <a:t> </a:t>
            </a:r>
            <a:r>
              <a:rPr lang="ru-RU" b="0" i="0" dirty="0">
                <a:effectLst/>
                <a:latin typeface="pplxSerif"/>
              </a:rPr>
              <a:t>чтение </a:t>
            </a:r>
            <a:r>
              <a:rPr lang="ru-RU" b="0" i="0" dirty="0" err="1">
                <a:effectLst/>
                <a:latin typeface="pplxSerif"/>
              </a:rPr>
              <a:t>датасета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matplotlib</a:t>
            </a:r>
            <a:r>
              <a:rPr lang="en-US" dirty="0"/>
              <a:t>.</a:t>
            </a:r>
            <a:r>
              <a:rPr lang="en-US" dirty="0" err="1"/>
              <a:t>pyplot</a:t>
            </a:r>
            <a:r>
              <a:rPr lang="en-US" dirty="0"/>
              <a:t> –</a:t>
            </a:r>
            <a:r>
              <a:rPr lang="ru-RU" dirty="0"/>
              <a:t> </a:t>
            </a:r>
            <a:r>
              <a:rPr lang="ru-RU" b="0" i="0" dirty="0">
                <a:effectLst/>
                <a:latin typeface="pplxSerif"/>
              </a:rPr>
              <a:t>построение графиков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pplxSans"/>
              </a:rPr>
              <a:t>s</a:t>
            </a:r>
            <a:r>
              <a:rPr lang="en-US" dirty="0" err="1">
                <a:latin typeface="pplxSans"/>
              </a:rPr>
              <a:t>k</a:t>
            </a:r>
            <a:r>
              <a:rPr lang="en-US" b="0" i="0" dirty="0" err="1">
                <a:effectLst/>
                <a:latin typeface="pplxSans"/>
              </a:rPr>
              <a:t>learn</a:t>
            </a:r>
            <a:r>
              <a:rPr lang="ru-RU" b="0" i="0" dirty="0">
                <a:effectLst/>
                <a:latin typeface="pplxSans"/>
              </a:rPr>
              <a:t> - </a:t>
            </a:r>
            <a:r>
              <a:rPr lang="ru-RU" b="0" i="0" dirty="0">
                <a:effectLst/>
                <a:latin typeface="pplxSerif"/>
              </a:rPr>
              <a:t>логистическая регрессия, метрики, стандартизация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t</a:t>
            </a:r>
            <a:r>
              <a:rPr lang="en-US" dirty="0" err="1">
                <a:effectLst/>
              </a:rPr>
              <a:t>hreadpoolctl</a:t>
            </a:r>
            <a:r>
              <a:rPr lang="ru-RU" dirty="0">
                <a:effectLst/>
              </a:rPr>
              <a:t> - </a:t>
            </a:r>
            <a:r>
              <a:rPr lang="ru-RU" b="0" i="0" dirty="0">
                <a:effectLst/>
                <a:latin typeface="pplxSerif"/>
              </a:rPr>
              <a:t> ограничение числа потоков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892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A526C-38F1-437D-B6CA-AE31A0DB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04D4525-1082-4B1A-AFBA-66349EDB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4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9D7B9-9CBD-4B93-89D3-71EB1219D6CA}"/>
              </a:ext>
            </a:extLst>
          </p:cNvPr>
          <p:cNvSpPr txBox="1"/>
          <p:nvPr/>
        </p:nvSpPr>
        <p:spPr>
          <a:xfrm>
            <a:off x="250349" y="859308"/>
            <a:ext cx="86065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Приводим целевые классы {-1, 1} в {0, 1}, так как логистическая регрессия требует бинарной кодировки. </a:t>
            </a:r>
            <a:br>
              <a:rPr lang="ru-RU" sz="1600" dirty="0"/>
            </a:br>
            <a:r>
              <a:rPr lang="ru-RU" sz="1600" dirty="0"/>
              <a:t>Отделяем признаки от целевой переменной. </a:t>
            </a:r>
          </a:p>
          <a:p>
            <a:r>
              <a:rPr lang="ru-RU" sz="1600" dirty="0"/>
              <a:t>Выполняем стандартизацию признаков - для корректной работы L1-регуляризации, чтобы штраф накладывался равномерно на все признаки независимо от их масштаба.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C01A2DC-D5CD-4AFA-B03F-01D4B1942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49" y="2278140"/>
            <a:ext cx="8558672" cy="398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37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1DD8B-95AB-49EF-A4A8-9D8B0C1C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Результат преобразования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115EA45-40C0-4B99-BE14-76DEAC01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4B4DD-53B9-4914-A122-9535CC70FCC4}"/>
              </a:ext>
            </a:extLst>
          </p:cNvPr>
          <p:cNvSpPr txBox="1"/>
          <p:nvPr/>
        </p:nvSpPr>
        <p:spPr>
          <a:xfrm>
            <a:off x="704882" y="1107016"/>
            <a:ext cx="7429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Результат преобразования</a:t>
            </a:r>
          </a:p>
          <a:p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02852-904A-4B0D-A99B-919B20EDAEBE}"/>
              </a:ext>
            </a:extLst>
          </p:cNvPr>
          <p:cNvSpPr txBox="1"/>
          <p:nvPr/>
        </p:nvSpPr>
        <p:spPr>
          <a:xfrm>
            <a:off x="775725" y="1951923"/>
            <a:ext cx="7288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Классы сбалансированы</a:t>
            </a:r>
            <a:endParaRPr lang="en-US" dirty="0"/>
          </a:p>
          <a:p>
            <a:r>
              <a:rPr lang="ru-RU" dirty="0"/>
              <a:t>Признаки стандартизованы </a:t>
            </a:r>
            <a:endParaRPr lang="en-US" dirty="0"/>
          </a:p>
          <a:p>
            <a:r>
              <a:rPr lang="ru-RU" dirty="0"/>
              <a:t>Целевая переменная: 0 и 1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4DB371-04F6-4823-AA0F-3C7A5FA24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82" y="3205043"/>
            <a:ext cx="7820763" cy="26120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960403-9A18-46CE-B2ED-0EA91761F402}"/>
              </a:ext>
            </a:extLst>
          </p:cNvPr>
          <p:cNvSpPr txBox="1"/>
          <p:nvPr/>
        </p:nvSpPr>
        <p:spPr>
          <a:xfrm>
            <a:off x="3286770" y="5839129"/>
            <a:ext cx="2857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Визуализация баланса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325318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5B9C2-87CA-4E27-A0A9-B5F5EE76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Настройки физических и логических данных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9DAAFC-549D-461D-B1C2-8D2F77320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E4E4-EA2F-4422-A9D0-9915CC5C5D5C}"/>
              </a:ext>
            </a:extLst>
          </p:cNvPr>
          <p:cNvSpPr txBox="1"/>
          <p:nvPr/>
        </p:nvSpPr>
        <p:spPr>
          <a:xfrm>
            <a:off x="775726" y="1367983"/>
            <a:ext cx="63616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Физические: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Формат: CSV без заголовка (или с заголовком)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Типы данных: int64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Пропуски: отсутствуют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Разерм</a:t>
            </a:r>
            <a:r>
              <a:rPr lang="ru-RU" dirty="0"/>
              <a:t> 6-XOR_64bit: 2.4 млн строк × 65 столбцов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Размер 5-XOR_128bit: 6 млн строк × 129 столбцов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EDE4F-D56C-4295-BFE6-498D8FC09B70}"/>
              </a:ext>
            </a:extLst>
          </p:cNvPr>
          <p:cNvSpPr txBox="1"/>
          <p:nvPr/>
        </p:nvSpPr>
        <p:spPr>
          <a:xfrm>
            <a:off x="775726" y="3643893"/>
            <a:ext cx="8221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Логические: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Признаки 1..64 (или 1..128): входной вызов PUF</a:t>
            </a:r>
            <a:r>
              <a:rPr lang="en-US" dirty="0"/>
              <a:t> – </a:t>
            </a:r>
            <a:r>
              <a:rPr lang="ru-RU" dirty="0"/>
              <a:t>значения бит</a:t>
            </a:r>
            <a:r>
              <a:rPr lang="en-US" dirty="0"/>
              <a:t> {0, 1}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Целевой признак: отклик PUF </a:t>
            </a:r>
            <a:r>
              <a:rPr lang="en-US" dirty="0"/>
              <a:t>– </a:t>
            </a:r>
            <a:r>
              <a:rPr lang="ru-RU" dirty="0"/>
              <a:t>интерпретированные значения </a:t>
            </a:r>
            <a:r>
              <a:rPr lang="en-US" dirty="0"/>
              <a:t>{0, 1}</a:t>
            </a:r>
          </a:p>
        </p:txBody>
      </p:sp>
    </p:spTree>
    <p:extLst>
      <p:ext uri="{BB962C8B-B14F-4D97-AF65-F5344CB8AC3E}">
        <p14:creationId xmlns:p14="http://schemas.microsoft.com/office/powerpoint/2010/main" val="394868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C0FDB-E608-453A-B6F8-4A56F2F5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Настройки физических и логических данных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84BD4E-E61E-47CC-BA42-D8AEB7C8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7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7A2AC-170E-40BE-ADAF-D80FA2D3DE89}"/>
              </a:ext>
            </a:extLst>
          </p:cNvPr>
          <p:cNvSpPr txBox="1"/>
          <p:nvPr/>
        </p:nvSpPr>
        <p:spPr>
          <a:xfrm>
            <a:off x="639342" y="908060"/>
            <a:ext cx="4576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Демонстрация преобразований в коде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B10ACD-864E-4492-A739-631A8870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01" y="1414000"/>
            <a:ext cx="6908333" cy="25636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4CD206-057D-4FBC-B0C6-563CFCC38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01" y="4218224"/>
            <a:ext cx="8318698" cy="151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11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52CF1C-993A-406F-A412-2E142800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Настройки функций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135521-684B-429B-A8CD-6E91C3F4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8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0B14D-89E5-4182-AC29-D2900754B404}"/>
              </a:ext>
            </a:extLst>
          </p:cNvPr>
          <p:cNvSpPr txBox="1"/>
          <p:nvPr/>
        </p:nvSpPr>
        <p:spPr>
          <a:xfrm>
            <a:off x="247160" y="840550"/>
            <a:ext cx="8675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функция управления ресурсами (для последовательного и параллельного запуска)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95299EE-FB69-483E-AE56-36531E82B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80" y="1246999"/>
            <a:ext cx="7060420" cy="8713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E572CD-4F64-4600-9795-80667D982FBD}"/>
              </a:ext>
            </a:extLst>
          </p:cNvPr>
          <p:cNvSpPr txBox="1"/>
          <p:nvPr/>
        </p:nvSpPr>
        <p:spPr>
          <a:xfrm>
            <a:off x="247160" y="2177531"/>
            <a:ext cx="7791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функция измерения времени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B79AD83-DC56-4725-BA2E-8BF27D046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81" y="2546864"/>
            <a:ext cx="5382376" cy="117323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32F6C5E-B2D2-46BA-A4E4-CF805A25E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80" y="4171499"/>
            <a:ext cx="6048571" cy="25371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1B82135-7732-495E-81D6-EFE94141BD5F}"/>
              </a:ext>
            </a:extLst>
          </p:cNvPr>
          <p:cNvSpPr txBox="1"/>
          <p:nvPr/>
        </p:nvSpPr>
        <p:spPr>
          <a:xfrm>
            <a:off x="247160" y="3802167"/>
            <a:ext cx="457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функция оценки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2396023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E8FAA-5BCC-43A2-9649-0F2A57106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Настройки функций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AF6F6C5-D068-4858-9B53-02E3FD0C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C8140-29CC-4148-9BEB-87795C8285A3}"/>
              </a:ext>
            </a:extLst>
          </p:cNvPr>
          <p:cNvSpPr txBox="1"/>
          <p:nvPr/>
        </p:nvSpPr>
        <p:spPr>
          <a:xfrm>
            <a:off x="330980" y="996434"/>
            <a:ext cx="8165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Другие функции о которых хотим упомянуть: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EF5364-1A6B-4BF0-BCB9-50B59A198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15" y="1873928"/>
            <a:ext cx="6333106" cy="6333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D87C77-8E84-4275-959F-9534282AA333}"/>
              </a:ext>
            </a:extLst>
          </p:cNvPr>
          <p:cNvSpPr txBox="1"/>
          <p:nvPr/>
        </p:nvSpPr>
        <p:spPr>
          <a:xfrm>
            <a:off x="418515" y="1504596"/>
            <a:ext cx="457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логистическая регрессия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AFA76-C377-4FEF-A22E-1F67E20A8B02}"/>
              </a:ext>
            </a:extLst>
          </p:cNvPr>
          <p:cNvSpPr txBox="1"/>
          <p:nvPr/>
        </p:nvSpPr>
        <p:spPr>
          <a:xfrm>
            <a:off x="418515" y="2830734"/>
            <a:ext cx="457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измерение времени предсказания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9E4A3E3-F824-40F9-A922-30C54DDB6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14" y="3248302"/>
            <a:ext cx="5090745" cy="126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41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339F5-C40D-4B8A-9D56-DAF8486E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Настройки алгоритма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D865BC5-BF6B-4481-BE09-D4CBADE3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10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D5103-2423-48C5-8CC5-759A2C16DAEC}"/>
              </a:ext>
            </a:extLst>
          </p:cNvPr>
          <p:cNvSpPr txBox="1"/>
          <p:nvPr/>
        </p:nvSpPr>
        <p:spPr>
          <a:xfrm>
            <a:off x="516354" y="1018935"/>
            <a:ext cx="8262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Для </a:t>
            </a:r>
            <a:r>
              <a:rPr lang="en-US" b="1" dirty="0"/>
              <a:t>L1-</a:t>
            </a:r>
            <a:r>
              <a:rPr lang="ru-RU" b="1" dirty="0"/>
              <a:t>логистической регрессии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906D92-6CEF-453E-8C99-F4D5BBA58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54" y="1657212"/>
            <a:ext cx="3650779" cy="26267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3AD501-B859-40BF-B5CC-D4B93C1821C2}"/>
              </a:ext>
            </a:extLst>
          </p:cNvPr>
          <p:cNvSpPr txBox="1"/>
          <p:nvPr/>
        </p:nvSpPr>
        <p:spPr>
          <a:xfrm>
            <a:off x="516353" y="4691002"/>
            <a:ext cx="7970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 исключением параметра </a:t>
            </a:r>
            <a:r>
              <a:rPr lang="en-US" dirty="0" err="1"/>
              <a:t>class_weight</a:t>
            </a:r>
            <a:r>
              <a:rPr lang="en-US" dirty="0"/>
              <a:t>=None</a:t>
            </a:r>
            <a:r>
              <a:rPr lang="ru-RU" dirty="0"/>
              <a:t>, так как классы сбалансированы, все параметры заданы с соответствии с первоначальным планом </a:t>
            </a:r>
          </a:p>
        </p:txBody>
      </p:sp>
    </p:spTree>
    <p:extLst>
      <p:ext uri="{BB962C8B-B14F-4D97-AF65-F5344CB8AC3E}">
        <p14:creationId xmlns:p14="http://schemas.microsoft.com/office/powerpoint/2010/main" val="428171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8F155-89E6-4304-ADA6-49559E554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построение моделей: время построения в зависимости от объема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0092A21-07AF-4F69-B224-F909C43A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62984-A290-446D-B058-00E763B7BEA4}"/>
              </a:ext>
            </a:extLst>
          </p:cNvPr>
          <p:cNvSpPr txBox="1"/>
          <p:nvPr/>
        </p:nvSpPr>
        <p:spPr>
          <a:xfrm>
            <a:off x="754826" y="870102"/>
            <a:ext cx="7634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Последовательное выполнение (с одним ядром)</a:t>
            </a:r>
            <a:br>
              <a:rPr lang="ru-RU" b="1" dirty="0"/>
            </a:br>
            <a:endParaRPr lang="ru-RU" dirty="0"/>
          </a:p>
          <a:p>
            <a:r>
              <a:rPr lang="ru-RU" dirty="0"/>
              <a:t>Рассмотрено на объемах данных: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ECDF0-37C3-4555-BE48-F5F9C4E07D86}"/>
              </a:ext>
            </a:extLst>
          </p:cNvPr>
          <p:cNvSpPr txBox="1"/>
          <p:nvPr/>
        </p:nvSpPr>
        <p:spPr>
          <a:xfrm>
            <a:off x="775726" y="3520893"/>
            <a:ext cx="4576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Проведение эксперимента: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E557F1E-2AE9-4840-AB89-3FCD0CD80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617" y="1531814"/>
            <a:ext cx="2076740" cy="176237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3B25B94-CEB1-4C57-BFBC-7A1123067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83" y="3955715"/>
            <a:ext cx="6230219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03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F58B4-B504-43B9-A593-7AA14D39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моделей: время построения в зависимости от объема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F9FAB7-072C-4284-AF5C-74C5E6E0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DC5CC-A298-4336-BF7F-42E0B84C5AF1}"/>
              </a:ext>
            </a:extLst>
          </p:cNvPr>
          <p:cNvSpPr txBox="1"/>
          <p:nvPr/>
        </p:nvSpPr>
        <p:spPr>
          <a:xfrm>
            <a:off x="603400" y="907098"/>
            <a:ext cx="4576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7348A"/>
                </a:solidFill>
                <a:latin typeface="PT Sans" panose="020B0503020203020204" pitchFamily="34" charset="-52"/>
              </a:rPr>
              <a:t>Результаты: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F61D5-C3D5-4F2D-8F87-A5A489B9A9D6}"/>
              </a:ext>
            </a:extLst>
          </p:cNvPr>
          <p:cNvSpPr txBox="1"/>
          <p:nvPr/>
        </p:nvSpPr>
        <p:spPr>
          <a:xfrm>
            <a:off x="603400" y="1491874"/>
            <a:ext cx="4576194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[{'</a:t>
            </a:r>
            <a:r>
              <a:rPr lang="ru-RU" sz="1400" dirty="0" err="1"/>
              <a:t>n_rows</a:t>
            </a:r>
            <a:r>
              <a:rPr lang="ru-RU" sz="1400" dirty="0"/>
              <a:t>': 50000,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1,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2.368214807000186,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0.4995675,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0.49995712798682407,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0.7048181210599908},</a:t>
            </a:r>
          </a:p>
          <a:p>
            <a:r>
              <a:rPr lang="ru-RU" sz="1400" dirty="0"/>
              <a:t> {'</a:t>
            </a:r>
            <a:r>
              <a:rPr lang="ru-RU" sz="1400" dirty="0" err="1"/>
              <a:t>n_rows</a:t>
            </a:r>
            <a:r>
              <a:rPr lang="ru-RU" sz="1400" dirty="0"/>
              <a:t>': 100000,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1,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6.255500375002157,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0.5017425,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0.5020824563211598,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0.6933148542581793},</a:t>
            </a:r>
          </a:p>
          <a:p>
            <a:r>
              <a:rPr lang="ru-RU" sz="1400" dirty="0"/>
              <a:t> {'</a:t>
            </a:r>
            <a:r>
              <a:rPr lang="ru-RU" sz="1400" dirty="0" err="1"/>
              <a:t>n_rows</a:t>
            </a:r>
            <a:r>
              <a:rPr lang="ru-RU" sz="1400" dirty="0"/>
              <a:t>': 250000,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1,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17.426759009998932,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0.5008375,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0.5003263508319193,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0.6932845293569068},</a:t>
            </a:r>
          </a:p>
          <a:p>
            <a:r>
              <a:rPr lang="ru-RU" sz="1400" dirty="0"/>
              <a:t> {'</a:t>
            </a:r>
            <a:r>
              <a:rPr lang="ru-RU" sz="1400" dirty="0" err="1"/>
              <a:t>n_rows</a:t>
            </a:r>
            <a:r>
              <a:rPr lang="ru-RU" sz="1400" dirty="0"/>
              <a:t>': 500000,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1,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36.68921056799809,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0.5002475,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0.5003459566672872,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0.693206323627859},</a:t>
            </a:r>
          </a:p>
          <a:p>
            <a:r>
              <a:rPr lang="ru-RU" sz="14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C64875-B6B8-4090-96B2-E405E0613FD6}"/>
              </a:ext>
            </a:extLst>
          </p:cNvPr>
          <p:cNvSpPr txBox="1"/>
          <p:nvPr/>
        </p:nvSpPr>
        <p:spPr>
          <a:xfrm>
            <a:off x="4232827" y="1491874"/>
            <a:ext cx="45761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{'</a:t>
            </a:r>
            <a:r>
              <a:rPr lang="ru-RU" sz="1400" dirty="0" err="1"/>
              <a:t>n_rows</a:t>
            </a:r>
            <a:r>
              <a:rPr lang="ru-RU" sz="1400" dirty="0"/>
              <a:t>': 750000,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1,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55.77244208499906,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0.5004275,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0.5000752739282106,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0.6931933409245632},</a:t>
            </a:r>
          </a:p>
          <a:p>
            <a:r>
              <a:rPr lang="ru-RU" sz="1400" dirty="0"/>
              <a:t> {'</a:t>
            </a:r>
            <a:r>
              <a:rPr lang="ru-RU" sz="1400" dirty="0" err="1"/>
              <a:t>n_rows</a:t>
            </a:r>
            <a:r>
              <a:rPr lang="ru-RU" sz="1400" dirty="0"/>
              <a:t>': 1000000,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1,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78.73817998900267,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0.5006425,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0.5004006796773995,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0.693179000107528},</a:t>
            </a:r>
          </a:p>
          <a:p>
            <a:r>
              <a:rPr lang="ru-RU" sz="1400" dirty="0"/>
              <a:t> {'</a:t>
            </a:r>
            <a:r>
              <a:rPr lang="ru-RU" sz="1400" dirty="0" err="1"/>
              <a:t>n_rows</a:t>
            </a:r>
            <a:r>
              <a:rPr lang="ru-RU" sz="1400" dirty="0"/>
              <a:t>': 1500000,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1,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118.57449172899942,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0.5000325,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0.5003903944432704,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0.693160535136088},</a:t>
            </a:r>
          </a:p>
          <a:p>
            <a:r>
              <a:rPr lang="ru-RU" sz="1400" dirty="0"/>
              <a:t> {'</a:t>
            </a:r>
            <a:r>
              <a:rPr lang="ru-RU" sz="1400" dirty="0" err="1"/>
              <a:t>n_rows</a:t>
            </a:r>
            <a:r>
              <a:rPr lang="ru-RU" sz="1400" dirty="0"/>
              <a:t>': 2000000,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1,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157.67871501699847,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0.500975,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0.501062276263995,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0.6931530942854447}]</a:t>
            </a:r>
          </a:p>
        </p:txBody>
      </p:sp>
    </p:spTree>
    <p:extLst>
      <p:ext uri="{BB962C8B-B14F-4D97-AF65-F5344CB8AC3E}">
        <p14:creationId xmlns:p14="http://schemas.microsoft.com/office/powerpoint/2010/main" val="213949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56C9F-9360-4F3D-9371-B9849C10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моделей: время построения в зависимости от объема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08A7D6-DB6D-48B6-AD96-366BF4ED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5EBC7-2488-43D3-B3A0-FF1687EA5741}"/>
              </a:ext>
            </a:extLst>
          </p:cNvPr>
          <p:cNvSpPr txBox="1"/>
          <p:nvPr/>
        </p:nvSpPr>
        <p:spPr>
          <a:xfrm>
            <a:off x="350239" y="939459"/>
            <a:ext cx="7904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7348A"/>
                </a:solidFill>
                <a:latin typeface="PT Sans" panose="020B0503020203020204" pitchFamily="34" charset="-52"/>
              </a:rPr>
              <a:t>Графики зависимости времени от объема данных, </a:t>
            </a:r>
            <a:r>
              <a:rPr lang="ru-RU" b="1" dirty="0">
                <a:solidFill>
                  <a:srgbClr val="27348A"/>
                </a:solidFill>
                <a:latin typeface="PT Sans" panose="020B0503020203020204" pitchFamily="34" charset="-52"/>
              </a:rPr>
              <a:t>для последовательного выполнения алгоритма</a:t>
            </a:r>
            <a:endParaRPr lang="ru-RU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BDA590A-55E1-4C0E-B7B5-9026D0977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8" y="1582615"/>
            <a:ext cx="9144000" cy="527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5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5F305-E800-4FCE-8904-24BDA8B60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моделей: время построения в зависимости от объема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0061CF-5ECA-41DB-BD69-2665C770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04F2-5293-48CB-ADA2-53FCB20463AA}"/>
              </a:ext>
            </a:extLst>
          </p:cNvPr>
          <p:cNvSpPr txBox="1"/>
          <p:nvPr/>
        </p:nvSpPr>
        <p:spPr>
          <a:xfrm>
            <a:off x="459297" y="930907"/>
            <a:ext cx="8114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7348A"/>
                </a:solidFill>
                <a:latin typeface="PT Sans" panose="020B0503020203020204" pitchFamily="34" charset="-52"/>
              </a:rPr>
              <a:t>Графики зависимости времени от объема данных, </a:t>
            </a:r>
            <a:r>
              <a:rPr lang="ru-RU" b="1" dirty="0">
                <a:solidFill>
                  <a:srgbClr val="27348A"/>
                </a:solidFill>
                <a:latin typeface="PT Sans" panose="020B0503020203020204" pitchFamily="34" charset="-52"/>
              </a:rPr>
              <a:t>для параллельного выполнения алгоритма </a:t>
            </a:r>
            <a:r>
              <a:rPr lang="ru-RU" dirty="0">
                <a:solidFill>
                  <a:srgbClr val="27348A"/>
                </a:solidFill>
                <a:latin typeface="PT Sans" panose="020B0503020203020204" pitchFamily="34" charset="-52"/>
              </a:rPr>
              <a:t>(2 ядра)</a:t>
            </a:r>
            <a:endParaRPr lang="ru-RU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1C3404-2AF0-4065-883B-994B26C10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1600"/>
            <a:ext cx="9144000" cy="53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7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3E471-C032-422D-B602-0A1EB7826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моделей: время построения в зависимости от объема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D62DA0-9AF6-4703-856D-017D00D6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27CA2C-28EE-44F3-97F1-68F622B3A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8181"/>
            <a:ext cx="9144000" cy="5345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9BFE67-2012-4B33-8A57-7A80CE28B391}"/>
              </a:ext>
            </a:extLst>
          </p:cNvPr>
          <p:cNvSpPr txBox="1"/>
          <p:nvPr/>
        </p:nvSpPr>
        <p:spPr>
          <a:xfrm>
            <a:off x="485512" y="939296"/>
            <a:ext cx="8172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7348A"/>
                </a:solidFill>
                <a:latin typeface="PT Sans" panose="020B0503020203020204" pitchFamily="34" charset="-52"/>
              </a:rPr>
              <a:t>Графики зависимости времени от объема данных, </a:t>
            </a:r>
            <a:r>
              <a:rPr lang="ru-RU" b="1" dirty="0">
                <a:solidFill>
                  <a:srgbClr val="27348A"/>
                </a:solidFill>
                <a:latin typeface="PT Sans" panose="020B0503020203020204" pitchFamily="34" charset="-52"/>
              </a:rPr>
              <a:t>для параллельного выполнения алгоритма </a:t>
            </a:r>
            <a:r>
              <a:rPr lang="ru-RU" dirty="0">
                <a:solidFill>
                  <a:srgbClr val="27348A"/>
                </a:solidFill>
                <a:latin typeface="PT Sans" panose="020B0503020203020204" pitchFamily="34" charset="-52"/>
              </a:rPr>
              <a:t>(4 ядра)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07849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AB91E-21D3-4E7A-A72A-3385B87F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моделей: время в зависимости от числа вычислителей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E6C0390-15DC-4FFC-8E44-EAB40346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160CF-CF7C-4B06-8DB0-C6D19F32991C}"/>
              </a:ext>
            </a:extLst>
          </p:cNvPr>
          <p:cNvSpPr txBox="1"/>
          <p:nvPr/>
        </p:nvSpPr>
        <p:spPr>
          <a:xfrm>
            <a:off x="775726" y="1198965"/>
            <a:ext cx="7814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Параллельное выполнение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B5A32D-BC9F-41C7-9B3A-4ED8BF052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72" y="2464204"/>
            <a:ext cx="5031590" cy="5530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1BEC6A-1940-42F1-9733-4A9227D4D438}"/>
              </a:ext>
            </a:extLst>
          </p:cNvPr>
          <p:cNvSpPr txBox="1"/>
          <p:nvPr/>
        </p:nvSpPr>
        <p:spPr>
          <a:xfrm>
            <a:off x="775726" y="1693085"/>
            <a:ext cx="6589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Рассмотрено на 2 и 4 ядрах, а также объемах данных таких же как для последовательного вычисления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A2DA0-ACDB-44A9-9A00-CA86CCCB57DD}"/>
              </a:ext>
            </a:extLst>
          </p:cNvPr>
          <p:cNvSpPr txBox="1"/>
          <p:nvPr/>
        </p:nvSpPr>
        <p:spPr>
          <a:xfrm>
            <a:off x="775726" y="3392098"/>
            <a:ext cx="457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Проведение эксперимента: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5DCC083-B0FA-4980-9785-BF9DB2A4B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72" y="3840726"/>
            <a:ext cx="7087589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64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D47C1-B2D5-4041-A9FE-9BBD41C4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построение моделей: время в зависимости от числа вычислителей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268C4C0-639F-47D3-A248-C5FBA6C7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BE69E-B777-4F5E-BEF6-AA73D93576E5}"/>
              </a:ext>
            </a:extLst>
          </p:cNvPr>
          <p:cNvSpPr txBox="1"/>
          <p:nvPr/>
        </p:nvSpPr>
        <p:spPr>
          <a:xfrm>
            <a:off x="775726" y="1120625"/>
            <a:ext cx="4578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Результаты: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F8945-873A-425A-A736-44AFA7B88B67}"/>
              </a:ext>
            </a:extLst>
          </p:cNvPr>
          <p:cNvSpPr txBox="1"/>
          <p:nvPr/>
        </p:nvSpPr>
        <p:spPr>
          <a:xfrm>
            <a:off x="775726" y="1581135"/>
            <a:ext cx="5949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Показаны не все результаты, для наглядности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F8247-DDBB-402F-BF89-307D723B73D6}"/>
              </a:ext>
            </a:extLst>
          </p:cNvPr>
          <p:cNvSpPr txBox="1"/>
          <p:nvPr/>
        </p:nvSpPr>
        <p:spPr>
          <a:xfrm>
            <a:off x="777548" y="2175077"/>
            <a:ext cx="36350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{'</a:t>
            </a:r>
            <a:r>
              <a:rPr lang="ru-RU" sz="1400" dirty="0" err="1"/>
              <a:t>n_rows</a:t>
            </a:r>
            <a:r>
              <a:rPr lang="ru-RU" sz="1400" dirty="0"/>
              <a:t>': 50000,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2,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2.3994154159991012,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0.4995675,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0.49995712798682407,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0.7048181210599908},</a:t>
            </a:r>
          </a:p>
          <a:p>
            <a:r>
              <a:rPr lang="en-US" sz="1400" dirty="0"/>
              <a:t>{'</a:t>
            </a:r>
            <a:r>
              <a:rPr lang="en-US" sz="1400" dirty="0" err="1"/>
              <a:t>n_rows</a:t>
            </a:r>
            <a:r>
              <a:rPr lang="en-US" sz="1400" dirty="0"/>
              <a:t>': 500000,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n_threads</a:t>
            </a:r>
            <a:r>
              <a:rPr lang="en-US" sz="1400" dirty="0"/>
              <a:t>': 2,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fit_time_sec</a:t>
            </a:r>
            <a:r>
              <a:rPr lang="en-US" sz="1400" dirty="0"/>
              <a:t>': 36.605647313997906,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test_accuracy</a:t>
            </a:r>
            <a:r>
              <a:rPr lang="en-US" sz="1400" dirty="0"/>
              <a:t>': 0.5002475,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test_roc_auc</a:t>
            </a:r>
            <a:r>
              <a:rPr lang="en-US" sz="1400" dirty="0"/>
              <a:t>': 0.5003459566672872,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test_log_loss</a:t>
            </a:r>
            <a:r>
              <a:rPr lang="en-US" sz="1400" dirty="0"/>
              <a:t>': 0.693206323627859},</a:t>
            </a:r>
            <a:endParaRPr lang="ru-RU" sz="1400" dirty="0"/>
          </a:p>
          <a:p>
            <a:r>
              <a:rPr lang="en-US" sz="1400" dirty="0"/>
              <a:t>{'</a:t>
            </a:r>
            <a:r>
              <a:rPr lang="en-US" sz="1400" dirty="0" err="1"/>
              <a:t>n_rows</a:t>
            </a:r>
            <a:r>
              <a:rPr lang="en-US" sz="1400" dirty="0"/>
              <a:t>': 2000000,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n_threads</a:t>
            </a:r>
            <a:r>
              <a:rPr lang="en-US" sz="1400" dirty="0"/>
              <a:t>': 2,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fit_time_sec</a:t>
            </a:r>
            <a:r>
              <a:rPr lang="en-US" sz="1400" dirty="0"/>
              <a:t>': 157.80189233299825,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test_accuracy</a:t>
            </a:r>
            <a:r>
              <a:rPr lang="en-US" sz="1400" dirty="0"/>
              <a:t>': 0.500975,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test_roc_auc</a:t>
            </a:r>
            <a:r>
              <a:rPr lang="en-US" sz="1400" dirty="0"/>
              <a:t>': 0.501062276263995,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test_log_loss</a:t>
            </a:r>
            <a:r>
              <a:rPr lang="en-US" sz="1400" dirty="0"/>
              <a:t>': 0.6931530942854447}</a:t>
            </a:r>
            <a:endParaRPr lang="ru-R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D8BCC-8B7D-4A7F-BFBD-20C38D7999F3}"/>
              </a:ext>
            </a:extLst>
          </p:cNvPr>
          <p:cNvSpPr txBox="1"/>
          <p:nvPr/>
        </p:nvSpPr>
        <p:spPr>
          <a:xfrm>
            <a:off x="4412609" y="2168674"/>
            <a:ext cx="45761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{'</a:t>
            </a:r>
            <a:r>
              <a:rPr lang="ru-RU" sz="1400" dirty="0" err="1"/>
              <a:t>n_rows</a:t>
            </a:r>
            <a:r>
              <a:rPr lang="ru-RU" sz="1400" dirty="0"/>
              <a:t>': 50000,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4,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2.3534906120003143,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0.4995675,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0.49995712798682407,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0.7048181210599908},</a:t>
            </a:r>
          </a:p>
          <a:p>
            <a:r>
              <a:rPr lang="ru-RU" sz="1400" dirty="0"/>
              <a:t> {'</a:t>
            </a:r>
            <a:r>
              <a:rPr lang="ru-RU" sz="1400" dirty="0" err="1"/>
              <a:t>n_rows</a:t>
            </a:r>
            <a:r>
              <a:rPr lang="ru-RU" sz="1400" dirty="0"/>
              <a:t>': 500000,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4,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36.6854145469988,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0.5002475,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0.5003459566672872,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0.693206323627859},</a:t>
            </a:r>
          </a:p>
          <a:p>
            <a:r>
              <a:rPr lang="ru-RU" sz="1400" dirty="0"/>
              <a:t>{'</a:t>
            </a:r>
            <a:r>
              <a:rPr lang="ru-RU" sz="1400" dirty="0" err="1"/>
              <a:t>n_rows</a:t>
            </a:r>
            <a:r>
              <a:rPr lang="ru-RU" sz="1400" dirty="0"/>
              <a:t>': 2000000,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n_threads</a:t>
            </a:r>
            <a:r>
              <a:rPr lang="ru-RU" sz="1400" dirty="0"/>
              <a:t>': 4,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fit_time_sec</a:t>
            </a:r>
            <a:r>
              <a:rPr lang="ru-RU" sz="1400" dirty="0"/>
              <a:t>': 158.33364285000061,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test_accuracy</a:t>
            </a:r>
            <a:r>
              <a:rPr lang="ru-RU" sz="1400" dirty="0"/>
              <a:t>': 0.500975,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test_roc_auc</a:t>
            </a:r>
            <a:r>
              <a:rPr lang="ru-RU" sz="1400" dirty="0"/>
              <a:t>': 0.501062276263995,</a:t>
            </a:r>
          </a:p>
          <a:p>
            <a:r>
              <a:rPr lang="ru-RU" sz="1400" dirty="0"/>
              <a:t>  '</a:t>
            </a:r>
            <a:r>
              <a:rPr lang="ru-RU" sz="1400" dirty="0" err="1"/>
              <a:t>test_log_loss</a:t>
            </a:r>
            <a:r>
              <a:rPr lang="ru-RU" sz="1400" dirty="0"/>
              <a:t>': 0.6931530942854447}</a:t>
            </a:r>
          </a:p>
        </p:txBody>
      </p:sp>
    </p:spTree>
    <p:extLst>
      <p:ext uri="{BB962C8B-B14F-4D97-AF65-F5344CB8AC3E}">
        <p14:creationId xmlns:p14="http://schemas.microsoft.com/office/powerpoint/2010/main" val="3935315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62C44-9FF5-4636-8E9A-9BA4E77D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моделей: время в зависимости от числа вычислителей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A27BC14-1A7C-43CD-9424-DCBC7D87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2E32F-66E4-40A4-8712-F145E56DD5CC}"/>
              </a:ext>
            </a:extLst>
          </p:cNvPr>
          <p:cNvSpPr txBox="1"/>
          <p:nvPr/>
        </p:nvSpPr>
        <p:spPr>
          <a:xfrm>
            <a:off x="484463" y="1031738"/>
            <a:ext cx="8324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Графики зависимости времени в зависимости от числа вычислителей, сравнение времени обучения последовательного и параллельного режимов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B8A057-375C-4BA5-BE49-4B7155D3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21" y="1611413"/>
            <a:ext cx="7401958" cy="40201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2DC300-9669-42D1-99A6-9BCBF34213BA}"/>
              </a:ext>
            </a:extLst>
          </p:cNvPr>
          <p:cNvSpPr txBox="1"/>
          <p:nvPr/>
        </p:nvSpPr>
        <p:spPr>
          <a:xfrm>
            <a:off x="707146" y="5670771"/>
            <a:ext cx="8033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идеале время уменьшается при увеличении числа вычислителей, а значения метрик остаются почти одинаковыми. На наших данных эти изменения незначительны либо отсутствуют,  значит </a:t>
            </a:r>
            <a:r>
              <a:rPr lang="ru-RU" dirty="0" err="1"/>
              <a:t>параллелизация</a:t>
            </a:r>
            <a:r>
              <a:rPr lang="ru-RU" dirty="0"/>
              <a:t> не дает выигрыша по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2558369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62C44-9FF5-4636-8E9A-9BA4E77D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моделей: время в зависимости от числа вычислителей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A27BC14-1A7C-43CD-9424-DCBC7D87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19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0E1894-731E-45D2-A2D9-C85D7B6B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47" y="750912"/>
            <a:ext cx="5834705" cy="610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8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0F677-D089-4978-9A07-1D58EF30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моделей: время в зависимости от числа вычислителей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883FE6C-11F7-4AAB-B6A5-81C3E942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20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DE686E-FBB9-4475-80C3-D5D158FF4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31" y="773634"/>
            <a:ext cx="7554379" cy="42201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BFB256-A8F4-45EC-B7D8-43B4B78E0D08}"/>
              </a:ext>
            </a:extLst>
          </p:cNvPr>
          <p:cNvSpPr txBox="1"/>
          <p:nvPr/>
        </p:nvSpPr>
        <p:spPr>
          <a:xfrm>
            <a:off x="501999" y="5161036"/>
            <a:ext cx="7955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7348A"/>
                </a:solidFill>
                <a:latin typeface="PT Sans" panose="020B0503020203020204" pitchFamily="34" charset="-52"/>
              </a:rPr>
              <a:t>Графики </a:t>
            </a:r>
            <a:r>
              <a:rPr lang="ru-RU" sz="1800" kern="1200" dirty="0" err="1">
                <a:solidFill>
                  <a:srgbClr val="27348A"/>
                </a:solidFill>
                <a:effectLst/>
                <a:latin typeface="PT Sans" panose="020B0503020203020204" pitchFamily="34" charset="-52"/>
                <a:ea typeface="+mn-ea"/>
                <a:cs typeface="+mn-cs"/>
              </a:rPr>
              <a:t>Accuracy</a:t>
            </a:r>
            <a:r>
              <a:rPr lang="ru-RU" sz="1800" kern="1200" dirty="0">
                <a:solidFill>
                  <a:srgbClr val="27348A"/>
                </a:solidFill>
                <a:effectLst/>
                <a:latin typeface="PT Sans" panose="020B0503020203020204" pitchFamily="34" charset="-52"/>
                <a:ea typeface="+mn-ea"/>
                <a:cs typeface="+mn-cs"/>
              </a:rPr>
              <a:t>, ROC-AUC, </a:t>
            </a:r>
            <a:r>
              <a:rPr lang="ru-RU" sz="1800" kern="1200" dirty="0" err="1">
                <a:solidFill>
                  <a:srgbClr val="27348A"/>
                </a:solidFill>
                <a:effectLst/>
                <a:latin typeface="PT Sans" panose="020B0503020203020204" pitchFamily="34" charset="-52"/>
                <a:ea typeface="+mn-ea"/>
                <a:cs typeface="+mn-cs"/>
              </a:rPr>
              <a:t>LogLoss</a:t>
            </a:r>
            <a:r>
              <a:rPr lang="ru-RU" sz="1800" kern="1200" dirty="0">
                <a:solidFill>
                  <a:srgbClr val="27348A"/>
                </a:solidFill>
                <a:effectLst/>
                <a:latin typeface="PT Sans" panose="020B0503020203020204" pitchFamily="34" charset="-52"/>
                <a:ea typeface="+mn-ea"/>
                <a:cs typeface="+mn-cs"/>
              </a:rPr>
              <a:t> и PR-AUC - описывают модель с разных сторон: точность ответов, разделимость классов, качество вероятностного прогноза и устойчивость при возможном дисбалансе.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360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4352D-8C0D-4F01-9340-6237525D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Построенная модель. Оценка результатов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739EC5A-281A-479A-A19E-E870C3C5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21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E2277-51E7-4450-AFC9-E56179889E92}"/>
              </a:ext>
            </a:extLst>
          </p:cNvPr>
          <p:cNvSpPr txBox="1"/>
          <p:nvPr/>
        </p:nvSpPr>
        <p:spPr>
          <a:xfrm>
            <a:off x="546891" y="843677"/>
            <a:ext cx="8033295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Качество модели (на тестовых данных):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Accuracy</a:t>
            </a:r>
            <a:r>
              <a:rPr lang="ru-RU" dirty="0"/>
              <a:t>: ≈ 50%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ROC-AUC: ≈ 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LogLoss</a:t>
            </a:r>
            <a:r>
              <a:rPr lang="ru-RU" dirty="0"/>
              <a:t>: </a:t>
            </a:r>
            <a:r>
              <a:rPr lang="en-US" dirty="0"/>
              <a:t>≈ ln(2</a:t>
            </a:r>
            <a:r>
              <a:rPr lang="ru-RU" dirty="0"/>
              <a:t>)</a:t>
            </a:r>
            <a:br>
              <a:rPr lang="ru-RU" dirty="0"/>
            </a:br>
            <a:endParaRPr lang="ru-RU" dirty="0"/>
          </a:p>
          <a:p>
            <a:r>
              <a:rPr lang="ru-RU" sz="1400" dirty="0"/>
              <a:t>Сводка по времени: {'</a:t>
            </a:r>
            <a:r>
              <a:rPr lang="en-US" sz="1400" dirty="0" err="1"/>
              <a:t>train_fit_time_sec</a:t>
            </a:r>
            <a:r>
              <a:rPr lang="en-US" sz="1400" dirty="0"/>
              <a:t>': 144.6272493710021, '</a:t>
            </a:r>
            <a:r>
              <a:rPr lang="en-US" sz="1400" dirty="0" err="1"/>
              <a:t>train_predict_time_sec</a:t>
            </a:r>
            <a:r>
              <a:rPr lang="en-US" sz="1400" dirty="0"/>
              <a:t>': 0.09768516199983424, '</a:t>
            </a:r>
            <a:r>
              <a:rPr lang="en-US" sz="1400" dirty="0" err="1"/>
              <a:t>test_predict_time_sec</a:t>
            </a:r>
            <a:r>
              <a:rPr lang="en-US" sz="1400" dirty="0"/>
              <a:t>': 0.026358085000538267}</a:t>
            </a:r>
          </a:p>
          <a:p>
            <a:r>
              <a:rPr lang="ru-RU" sz="1400" dirty="0"/>
              <a:t>Метрики на </a:t>
            </a:r>
            <a:r>
              <a:rPr lang="en-US" sz="1400" dirty="0"/>
              <a:t>train: {'accuracy': 0.5019285, '</a:t>
            </a:r>
            <a:r>
              <a:rPr lang="en-US" sz="1400" dirty="0" err="1"/>
              <a:t>roc_auc</a:t>
            </a:r>
            <a:r>
              <a:rPr lang="en-US" sz="1400" dirty="0"/>
              <a:t>': 0.502780289550612, '</a:t>
            </a:r>
            <a:r>
              <a:rPr lang="en-US" sz="1400" dirty="0" err="1"/>
              <a:t>log_loss</a:t>
            </a:r>
            <a:r>
              <a:rPr lang="en-US" sz="1400" dirty="0"/>
              <a:t>': 0.6931350141634673, '</a:t>
            </a:r>
            <a:r>
              <a:rPr lang="en-US" sz="1400" dirty="0" err="1"/>
              <a:t>pr_auc</a:t>
            </a:r>
            <a:r>
              <a:rPr lang="en-US" sz="1400" dirty="0"/>
              <a:t>': 0.5027660014497104}</a:t>
            </a:r>
          </a:p>
          <a:p>
            <a:r>
              <a:rPr lang="ru-RU" sz="1400" dirty="0"/>
              <a:t>Метрики на </a:t>
            </a:r>
            <a:r>
              <a:rPr lang="en-US" sz="1400" dirty="0"/>
              <a:t>test: {'accuracy': 0.500975, '</a:t>
            </a:r>
            <a:r>
              <a:rPr lang="en-US" sz="1400" dirty="0" err="1"/>
              <a:t>roc_auc</a:t>
            </a:r>
            <a:r>
              <a:rPr lang="en-US" sz="1400" dirty="0"/>
              <a:t>': 0.501062276263995, '</a:t>
            </a:r>
            <a:r>
              <a:rPr lang="en-US" sz="1400" dirty="0" err="1"/>
              <a:t>log_loss</a:t>
            </a:r>
            <a:r>
              <a:rPr lang="en-US" sz="1400" dirty="0"/>
              <a:t>': 0.6931530942854447, '</a:t>
            </a:r>
            <a:r>
              <a:rPr lang="en-US" sz="1400" dirty="0" err="1"/>
              <a:t>pr_auc</a:t>
            </a:r>
            <a:r>
              <a:rPr lang="en-US" sz="1400" dirty="0"/>
              <a:t>': 0.49924432636217025}</a:t>
            </a:r>
            <a:endParaRPr lang="ru-RU" sz="1400" dirty="0"/>
          </a:p>
          <a:p>
            <a:endParaRPr lang="ru-RU" dirty="0"/>
          </a:p>
          <a:p>
            <a:r>
              <a:rPr lang="ru-RU" dirty="0"/>
              <a:t>Модель не способна предсказывать выход XOR </a:t>
            </a:r>
            <a:r>
              <a:rPr lang="ru-RU" dirty="0" err="1"/>
              <a:t>Arbiter</a:t>
            </a:r>
            <a:r>
              <a:rPr lang="ru-RU" dirty="0"/>
              <a:t> PUF. Это ожидаемо, так как XOR PUF специально спроектирован устойчивым к линейным атакам.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b="1" dirty="0"/>
              <a:t>Анализ признаков для тестовых данных: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Всего признаков: 64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Ненулевых весов: 64</a:t>
            </a:r>
          </a:p>
          <a:p>
            <a:r>
              <a:rPr lang="en-US" dirty="0"/>
              <a:t>L1 </a:t>
            </a:r>
            <a:r>
              <a:rPr lang="ru-RU" dirty="0"/>
              <a:t>регуляризация не обнулила ни один признак, это подтверждает что XOR-операция размывает зависимость между входными битами и выходом</a:t>
            </a:r>
          </a:p>
        </p:txBody>
      </p:sp>
    </p:spTree>
    <p:extLst>
      <p:ext uri="{BB962C8B-B14F-4D97-AF65-F5344CB8AC3E}">
        <p14:creationId xmlns:p14="http://schemas.microsoft.com/office/powerpoint/2010/main" val="4162358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154EF-455A-4D16-BAD6-53AB89FA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Выводы по масштабированию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6D9975-E610-4A4C-BE08-7A516A2C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22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A7896-2A5A-46B7-AA54-7A1D3E924FF2}"/>
              </a:ext>
            </a:extLst>
          </p:cNvPr>
          <p:cNvSpPr txBox="1"/>
          <p:nvPr/>
        </p:nvSpPr>
        <p:spPr>
          <a:xfrm>
            <a:off x="592555" y="1020798"/>
            <a:ext cx="80220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По объему данных: </a:t>
            </a:r>
          </a:p>
          <a:p>
            <a:r>
              <a:rPr lang="ru-RU" dirty="0"/>
              <a:t>время растет почти линейно с увеличением объема данных - алгоритм хорошо масштабируется на большие данные.</a:t>
            </a:r>
          </a:p>
          <a:p>
            <a:endParaRPr lang="ru-RU" dirty="0"/>
          </a:p>
          <a:p>
            <a:r>
              <a:rPr lang="ru-RU" b="1" dirty="0"/>
              <a:t>По числу вычислителей: </a:t>
            </a:r>
          </a:p>
          <a:p>
            <a:r>
              <a:rPr lang="ru-RU" dirty="0"/>
              <a:t>увеличение числа ядер не дает ускорения. Время практически одинаковое для 1, 2 и 4 ядер.</a:t>
            </a:r>
            <a:br>
              <a:rPr lang="ru-RU" dirty="0"/>
            </a:br>
            <a:endParaRPr lang="ru-RU" dirty="0"/>
          </a:p>
          <a:p>
            <a:r>
              <a:rPr lang="ru-RU" b="1" dirty="0"/>
              <a:t>Причина: </a:t>
            </a:r>
          </a:p>
          <a:p>
            <a:r>
              <a:rPr lang="ru-RU" dirty="0"/>
              <a:t>в </a:t>
            </a:r>
            <a:r>
              <a:rPr lang="en-US" dirty="0"/>
              <a:t>saga </a:t>
            </a:r>
            <a:r>
              <a:rPr lang="ru-RU" dirty="0" err="1"/>
              <a:t>солвере</a:t>
            </a:r>
            <a:r>
              <a:rPr lang="ru-RU" dirty="0"/>
              <a:t> накладные расходы на синхронизацию потоков превышают выгоду от </a:t>
            </a:r>
            <a:r>
              <a:rPr lang="ru-RU" dirty="0" err="1"/>
              <a:t>параллелизации</a:t>
            </a:r>
            <a:endParaRPr lang="ru-RU" dirty="0"/>
          </a:p>
          <a:p>
            <a:endParaRPr lang="ru-RU" dirty="0"/>
          </a:p>
          <a:p>
            <a:r>
              <a:rPr lang="ru-RU" b="1" dirty="0"/>
              <a:t>Вывод: </a:t>
            </a:r>
          </a:p>
          <a:p>
            <a:r>
              <a:rPr lang="ru-RU" dirty="0"/>
              <a:t>Для данного алгоритма и объема </a:t>
            </a:r>
            <a:r>
              <a:rPr lang="ru-RU" dirty="0" err="1"/>
              <a:t>датасета</a:t>
            </a:r>
            <a:r>
              <a:rPr lang="ru-RU" dirty="0"/>
              <a:t> (2-6 млн строк) нет смысла использовать более 1 ядра — </a:t>
            </a:r>
            <a:r>
              <a:rPr lang="ru-RU" dirty="0" err="1"/>
              <a:t>параллелизация</a:t>
            </a:r>
            <a:r>
              <a:rPr lang="ru-RU" dirty="0"/>
              <a:t> не дает прироста производительности</a:t>
            </a:r>
          </a:p>
          <a:p>
            <a:endParaRPr lang="ru-RU" dirty="0"/>
          </a:p>
          <a:p>
            <a:r>
              <a:rPr lang="ru-RU" dirty="0"/>
              <a:t>Для 5-XOR_128bit (6 млн строк × 129 признаков) -  аналогичное поведение, большее время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460264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27B45-07AE-4E33-9CD9-1EA00401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Выводы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8BCB52B-475C-4BDA-9C78-670C31CA0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23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D0E07-D393-412C-952B-27F73340338C}"/>
              </a:ext>
            </a:extLst>
          </p:cNvPr>
          <p:cNvSpPr txBox="1"/>
          <p:nvPr/>
        </p:nvSpPr>
        <p:spPr>
          <a:xfrm>
            <a:off x="328774" y="938281"/>
            <a:ext cx="4578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Общий вывод: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2DA218-0EB0-4F65-B498-3107BDC7B8F8}"/>
              </a:ext>
            </a:extLst>
          </p:cNvPr>
          <p:cNvSpPr txBox="1"/>
          <p:nvPr/>
        </p:nvSpPr>
        <p:spPr>
          <a:xfrm>
            <a:off x="328774" y="1307613"/>
            <a:ext cx="886831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Проведенное исследование показало, что линейные модели (логистическая регрессия с L1-регуляризацией) не способны эффективно моделировать XOR </a:t>
            </a:r>
            <a:r>
              <a:rPr lang="ru-RU" dirty="0" err="1"/>
              <a:t>Arbiter</a:t>
            </a:r>
            <a:r>
              <a:rPr lang="ru-RU" dirty="0"/>
              <a:t> PUF.</a:t>
            </a:r>
          </a:p>
          <a:p>
            <a:endParaRPr lang="ru-RU" dirty="0"/>
          </a:p>
          <a:p>
            <a:r>
              <a:rPr lang="ru-RU" b="1" dirty="0"/>
              <a:t>Масштабируемость: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Алгоритм хорошо масштабируется по объему данных (линейный рост времени)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Однако </a:t>
            </a:r>
            <a:r>
              <a:rPr lang="ru-RU" dirty="0" err="1"/>
              <a:t>параллелизация</a:t>
            </a:r>
            <a:r>
              <a:rPr lang="ru-RU" dirty="0"/>
              <a:t> не дает выигрыша в производительности из-за последовательной природы </a:t>
            </a:r>
            <a:r>
              <a:rPr lang="ru-RU" dirty="0" err="1"/>
              <a:t>solver</a:t>
            </a:r>
            <a:r>
              <a:rPr lang="ru-RU" dirty="0"/>
              <a:t>='</a:t>
            </a:r>
            <a:r>
              <a:rPr lang="ru-RU" dirty="0" err="1"/>
              <a:t>saga</a:t>
            </a:r>
            <a:r>
              <a:rPr lang="ru-RU" dirty="0"/>
              <a:t>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b="1" dirty="0"/>
              <a:t>На практике: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моделирования XOR PUF требуются нелинейные методы (например, нейронные сети)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Текущий объем данных может быть недостаточным для выявления сложных XOR-зависимостей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выборе вычислительных ресурсов достаточно использовать 1 ядро CPU для данного типа задач</a:t>
            </a:r>
          </a:p>
        </p:txBody>
      </p:sp>
    </p:spTree>
    <p:extLst>
      <p:ext uri="{BB962C8B-B14F-4D97-AF65-F5344CB8AC3E}">
        <p14:creationId xmlns:p14="http://schemas.microsoft.com/office/powerpoint/2010/main" val="3700350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2BD9B-0B34-4260-AFB6-69995830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44921760"/>
      </p:ext>
    </p:extLst>
  </p:cSld>
  <p:clrMapOvr>
    <a:masterClrMapping/>
  </p:clrMapOvr>
</p:sld>
</file>

<file path=ppt/theme/theme1.xml><?xml version="1.0" encoding="utf-8"?>
<a:theme xmlns:a="http://schemas.openxmlformats.org/drawingml/2006/main" name="ETU">
  <a:themeElements>
    <a:clrScheme name="ETU">
      <a:dk1>
        <a:srgbClr val="27348A"/>
      </a:dk1>
      <a:lt1>
        <a:sysClr val="window" lastClr="FFFFFF"/>
      </a:lt1>
      <a:dk2>
        <a:srgbClr val="38489E"/>
      </a:dk2>
      <a:lt2>
        <a:srgbClr val="DADADA"/>
      </a:lt2>
      <a:accent1>
        <a:srgbClr val="05336D"/>
      </a:accent1>
      <a:accent2>
        <a:srgbClr val="AC8543"/>
      </a:accent2>
      <a:accent3>
        <a:srgbClr val="151515"/>
      </a:accent3>
      <a:accent4>
        <a:srgbClr val="151515"/>
      </a:accent4>
      <a:accent5>
        <a:srgbClr val="151515"/>
      </a:accent5>
      <a:accent6>
        <a:srgbClr val="FFFFFF"/>
      </a:accent6>
      <a:hlink>
        <a:srgbClr val="2998E3"/>
      </a:hlink>
      <a:folHlink>
        <a:srgbClr val="7F723D"/>
      </a:folHlink>
    </a:clrScheme>
    <a:fontScheme name="ETU">
      <a:majorFont>
        <a:latin typeface="GillSansC"/>
        <a:ea typeface=""/>
        <a:cs typeface=""/>
      </a:majorFont>
      <a:minorFont>
        <a:latin typeface="PT Sans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TU" id="{2E0C7158-F6FA-44A8-884C-511EA5ECB0D7}" vid="{04ED4DAA-3F7E-492E-9D8A-C35B6E8FC8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ETU</Template>
  <TotalTime>1129</TotalTime>
  <Words>1709</Words>
  <Application>Microsoft Office PowerPoint</Application>
  <PresentationFormat>Экран (4:3)</PresentationFormat>
  <Paragraphs>241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GillSansC</vt:lpstr>
      <vt:lpstr>pplxSans</vt:lpstr>
      <vt:lpstr>pplxSerif</vt:lpstr>
      <vt:lpstr>PT Sans</vt:lpstr>
      <vt:lpstr>ETU</vt:lpstr>
      <vt:lpstr>Доклад №2 по дисциплине большие данные</vt:lpstr>
      <vt:lpstr>Планируемые этапы анализа</vt:lpstr>
      <vt:lpstr>Инструменты</vt:lpstr>
      <vt:lpstr>Преобразование данных</vt:lpstr>
      <vt:lpstr>Результат преобразования</vt:lpstr>
      <vt:lpstr>Настройки физических и логических данных</vt:lpstr>
      <vt:lpstr>Настройки физических и логических данных</vt:lpstr>
      <vt:lpstr>Настройки функций</vt:lpstr>
      <vt:lpstr>Настройки функций</vt:lpstr>
      <vt:lpstr>Настройки алгоритма</vt:lpstr>
      <vt:lpstr>построение моделей: время построения в зависимости от объема данных</vt:lpstr>
      <vt:lpstr>построение моделей: время построения в зависимости от объема данных</vt:lpstr>
      <vt:lpstr>построение моделей: время построения в зависимости от объема данных</vt:lpstr>
      <vt:lpstr>построение моделей: время построения в зависимости от объема данных</vt:lpstr>
      <vt:lpstr>построение моделей: время построения в зависимости от объема данных</vt:lpstr>
      <vt:lpstr>построение моделей: время в зависимости от числа вычислителей</vt:lpstr>
      <vt:lpstr>построение моделей: время в зависимости от числа вычислителей</vt:lpstr>
      <vt:lpstr>построение моделей: время в зависимости от числа вычислителей</vt:lpstr>
      <vt:lpstr>построение моделей: время в зависимости от числа вычислителей</vt:lpstr>
      <vt:lpstr>построение моделей: время в зависимости от числа вычислителей</vt:lpstr>
      <vt:lpstr>Построенная модель. Оценка результатов</vt:lpstr>
      <vt:lpstr>Выводы по масштабированию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№1 по дисциплине большие данные</dc:title>
  <dc:creator>sasha haiko</dc:creator>
  <cp:lastModifiedBy>sasha haiko</cp:lastModifiedBy>
  <cp:revision>402</cp:revision>
  <dcterms:created xsi:type="dcterms:W3CDTF">2026-03-13T20:38:05Z</dcterms:created>
  <dcterms:modified xsi:type="dcterms:W3CDTF">2026-04-04T00:07:50Z</dcterms:modified>
</cp:coreProperties>
</file>