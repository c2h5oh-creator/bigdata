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8" r:id="rId5"/>
    <p:sldId id="260" r:id="rId6"/>
    <p:sldId id="269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66" r:id="rId16"/>
    <p:sldId id="27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1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99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50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76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42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53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3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0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34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39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858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4115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189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041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37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51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29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D0231D7-5067-4AD3-87A8-1A4DBECE312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263EFF-C467-4121-9C13-7B8004BDC1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50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Доклад 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Результаты анализа данных</a:t>
            </a:r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847909" y="5817326"/>
            <a:ext cx="3274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/>
              <a:t>Выполнили:</a:t>
            </a:r>
          </a:p>
          <a:p>
            <a:pPr algn="r"/>
            <a:r>
              <a:rPr lang="ru-RU" dirty="0" smtClean="0"/>
              <a:t>Петрова С.В.</a:t>
            </a:r>
          </a:p>
          <a:p>
            <a:pPr algn="r"/>
            <a:r>
              <a:rPr lang="ru-RU" dirty="0" smtClean="0"/>
              <a:t>Заболотников М.Е.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468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Выбранные системы хранения и анализа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хранения был выбран </a:t>
            </a:r>
            <a:r>
              <a:rPr lang="en-US" dirty="0" err="1" smtClean="0"/>
              <a:t>YandexCloud</a:t>
            </a:r>
            <a:r>
              <a:rPr lang="en-US" dirty="0" smtClean="0"/>
              <a:t>;</a:t>
            </a:r>
          </a:p>
          <a:p>
            <a:r>
              <a:rPr lang="ru-RU" dirty="0" smtClean="0"/>
              <a:t>В качестве системы анализа была выбрана среда программирования </a:t>
            </a:r>
            <a:r>
              <a:rPr lang="en-US" dirty="0" err="1" smtClean="0"/>
              <a:t>Jupyter</a:t>
            </a:r>
            <a:r>
              <a:rPr lang="ru-RU" dirty="0" smtClean="0"/>
              <a:t>, язык программирования</a:t>
            </a:r>
            <a:r>
              <a:rPr lang="en-US" dirty="0" smtClean="0"/>
              <a:t> – Python.</a:t>
            </a:r>
            <a:endParaRPr lang="ru-RU" dirty="0" smtClean="0"/>
          </a:p>
          <a:p>
            <a:r>
              <a:rPr lang="ru-RU" dirty="0" smtClean="0"/>
              <a:t>Для реализации </a:t>
            </a:r>
            <a:r>
              <a:rPr lang="ru-RU" dirty="0"/>
              <a:t>заявленного алгоритма </a:t>
            </a:r>
            <a:r>
              <a:rPr lang="ru-RU" dirty="0" smtClean="0"/>
              <a:t>многослойных персептронов (</a:t>
            </a:r>
            <a:r>
              <a:rPr lang="en-US" dirty="0" smtClean="0"/>
              <a:t>MLP</a:t>
            </a:r>
            <a:r>
              <a:rPr lang="ru-RU" dirty="0" smtClean="0"/>
              <a:t>) были использованы следующие библиотеки: </a:t>
            </a:r>
            <a:r>
              <a:rPr lang="en-US" dirty="0" err="1" smtClean="0"/>
              <a:t>numpy</a:t>
            </a:r>
            <a:r>
              <a:rPr lang="en-US" dirty="0" smtClean="0"/>
              <a:t>, pandas</a:t>
            </a:r>
            <a:r>
              <a:rPr lang="ru-RU" dirty="0" smtClean="0"/>
              <a:t>, а также библиотека глубокого обучения </a:t>
            </a:r>
            <a:r>
              <a:rPr lang="en-US" dirty="0" err="1" smtClean="0"/>
              <a:t>tensorflow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Также была использована библиотека </a:t>
            </a:r>
            <a:r>
              <a:rPr lang="en-US" dirty="0" err="1" smtClean="0"/>
              <a:t>matplotlib</a:t>
            </a:r>
            <a:r>
              <a:rPr lang="en-US" dirty="0" smtClean="0"/>
              <a:t> </a:t>
            </a:r>
            <a:r>
              <a:rPr lang="ru-RU" dirty="0" smtClean="0"/>
              <a:t>для графического представления результатов работы алгоритма.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79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 анализа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440873"/>
            <a:ext cx="5653260" cy="5043054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sz="1400" dirty="0" err="1" smtClean="0">
                <a:latin typeface="Consolas" panose="020B0609020204030204" pitchFamily="49" charset="0"/>
              </a:rPr>
              <a:t>X_train</a:t>
            </a:r>
            <a:r>
              <a:rPr lang="en-US" sz="1400" dirty="0" smtClean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= </a:t>
            </a:r>
            <a:r>
              <a:rPr lang="en-US" sz="1400" dirty="0" err="1">
                <a:latin typeface="Consolas" panose="020B0609020204030204" pitchFamily="49" charset="0"/>
              </a:rPr>
              <a:t>pd.read_csv</a:t>
            </a:r>
            <a:r>
              <a:rPr lang="en-US" sz="1400" dirty="0">
                <a:latin typeface="Consolas" panose="020B0609020204030204" pitchFamily="49" charset="0"/>
              </a:rPr>
              <a:t>(r'train_6xor_64dim.csv',header = None)</a:t>
            </a: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X_train.head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X_train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X_train.replace</a:t>
            </a:r>
            <a:r>
              <a:rPr lang="en-US" sz="1400" dirty="0">
                <a:latin typeface="Consolas" panose="020B0609020204030204" pitchFamily="49" charset="0"/>
              </a:rPr>
              <a:t>([-1],0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X_train.describe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 smtClean="0">
                <a:latin typeface="Consolas" panose="020B0609020204030204" pitchFamily="49" charset="0"/>
              </a:rPr>
              <a:t>X_train.shape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distrb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X_train.iloc</a:t>
            </a:r>
            <a:r>
              <a:rPr lang="en-US" sz="1400" dirty="0">
                <a:latin typeface="Consolas" panose="020B0609020204030204" pitchFamily="49" charset="0"/>
              </a:rPr>
              <a:t>[:,64].</a:t>
            </a:r>
            <a:r>
              <a:rPr lang="en-US" sz="1400" dirty="0" err="1">
                <a:latin typeface="Consolas" panose="020B0609020204030204" pitchFamily="49" charset="0"/>
              </a:rPr>
              <a:t>value_counts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distrb.plot</a:t>
            </a:r>
            <a:r>
              <a:rPr lang="en-US" sz="1400" dirty="0">
                <a:latin typeface="Consolas" panose="020B0609020204030204" pitchFamily="49" charset="0"/>
              </a:rPr>
              <a:t>(kind = 'bar</a:t>
            </a:r>
            <a:r>
              <a:rPr lang="en-US" sz="1400" dirty="0" smtClean="0">
                <a:latin typeface="Consolas" panose="020B0609020204030204" pitchFamily="49" charset="0"/>
              </a:rPr>
              <a:t>')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X_train.isnull</a:t>
            </a:r>
            <a:r>
              <a:rPr lang="en-US" sz="1400" dirty="0">
                <a:latin typeface="Consolas" panose="020B0609020204030204" pitchFamily="49" charset="0"/>
              </a:rPr>
              <a:t>().</a:t>
            </a:r>
            <a:r>
              <a:rPr lang="en-US" sz="1400" dirty="0" err="1">
                <a:latin typeface="Consolas" panose="020B0609020204030204" pitchFamily="49" charset="0"/>
              </a:rPr>
              <a:t>values.any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Y_train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X_train</a:t>
            </a:r>
            <a:r>
              <a:rPr lang="en-US" sz="1400" dirty="0">
                <a:latin typeface="Consolas" panose="020B0609020204030204" pitchFamily="49" charset="0"/>
              </a:rPr>
              <a:t>[[64</a:t>
            </a:r>
            <a:r>
              <a:rPr lang="en-US" sz="1400" dirty="0" smtClean="0">
                <a:latin typeface="Consolas" panose="020B0609020204030204" pitchFamily="49" charset="0"/>
              </a:rPr>
              <a:t>]]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X_train.drop</a:t>
            </a:r>
            <a:r>
              <a:rPr lang="en-US" sz="1400" dirty="0">
                <a:latin typeface="Consolas" panose="020B0609020204030204" pitchFamily="49" charset="0"/>
              </a:rPr>
              <a:t>([64],axis = 1,inplace = True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 smtClean="0">
                <a:latin typeface="Consolas" panose="020B0609020204030204" pitchFamily="49" charset="0"/>
              </a:rPr>
              <a:t>X_train.shape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pd.read_csv</a:t>
            </a:r>
            <a:r>
              <a:rPr lang="en-US" sz="1400" dirty="0">
                <a:latin typeface="Consolas" panose="020B0609020204030204" pitchFamily="49" charset="0"/>
              </a:rPr>
              <a:t>(r'./test_6xor_64dim.csv',header = None)</a:t>
            </a: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X_test.head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X_test.replace</a:t>
            </a:r>
            <a:r>
              <a:rPr lang="en-US" sz="1400" dirty="0">
                <a:latin typeface="Consolas" panose="020B0609020204030204" pitchFamily="49" charset="0"/>
              </a:rPr>
              <a:t>([-1],0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X_test.isnull</a:t>
            </a:r>
            <a:r>
              <a:rPr lang="en-US" sz="1400" dirty="0">
                <a:latin typeface="Consolas" panose="020B0609020204030204" pitchFamily="49" charset="0"/>
              </a:rPr>
              <a:t>().</a:t>
            </a:r>
            <a:r>
              <a:rPr lang="en-US" sz="1400" dirty="0" err="1">
                <a:latin typeface="Consolas" panose="020B0609020204030204" pitchFamily="49" charset="0"/>
              </a:rPr>
              <a:t>values.any</a:t>
            </a:r>
            <a:r>
              <a:rPr lang="en-US" sz="1400" dirty="0" smtClean="0">
                <a:latin typeface="Consolas" panose="020B0609020204030204" pitchFamily="49" charset="0"/>
              </a:rPr>
              <a:t>()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Y_test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X_test</a:t>
            </a:r>
            <a:r>
              <a:rPr lang="en-US" sz="1400" dirty="0">
                <a:latin typeface="Consolas" panose="020B0609020204030204" pitchFamily="49" charset="0"/>
              </a:rPr>
              <a:t>[[64</a:t>
            </a:r>
            <a:r>
              <a:rPr lang="en-US" sz="1400" dirty="0" smtClean="0">
                <a:latin typeface="Consolas" panose="020B0609020204030204" pitchFamily="49" charset="0"/>
              </a:rPr>
              <a:t>]]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X_test.drop</a:t>
            </a:r>
            <a:r>
              <a:rPr lang="en-US" sz="1400" dirty="0">
                <a:latin typeface="Consolas" panose="020B0609020204030204" pitchFamily="49" charset="0"/>
              </a:rPr>
              <a:t>([64],axis = 1,inplace = True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  <a:endParaRPr lang="ru-RU" sz="1400" dirty="0" smtClean="0"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X_test.shape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09593" y="2685127"/>
            <a:ext cx="42579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solidFill>
                  <a:schemeClr val="tx2"/>
                </a:solidFill>
              </a:rPr>
              <a:t>	Данный кусок кода отвечает за непосредственный анализ данных, их первичную подготовку. Мы рассматриваем два массива данных – один на 2000000 строк и 65 столбцов и другой на 400000 строк и 65 столбцов.</a:t>
            </a:r>
            <a:endParaRPr lang="ru-RU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485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</a:t>
            </a:r>
            <a:r>
              <a:rPr lang="ru-RU" dirty="0"/>
              <a:t>анализа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665243"/>
            <a:ext cx="4876368" cy="1503790"/>
          </a:xfrm>
          <a:prstGeom prst="rect">
            <a:avLst/>
          </a:prstGeom>
        </p:spPr>
      </p:pic>
      <p:pic>
        <p:nvPicPr>
          <p:cNvPr id="6" name="Объект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405" y="1665243"/>
            <a:ext cx="4251700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904" y="4668447"/>
            <a:ext cx="2724150" cy="69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3795" y="3648106"/>
            <a:ext cx="487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Рис.1 - Исходные данные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40464" y="5724480"/>
            <a:ext cx="4847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2 - </a:t>
            </a:r>
            <a:r>
              <a:rPr lang="ru-RU" dirty="0" err="1" smtClean="0"/>
              <a:t>Несуществование</a:t>
            </a:r>
            <a:r>
              <a:rPr lang="ru-RU" dirty="0" smtClean="0"/>
              <a:t> нулевых значений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423746" y="5724480"/>
            <a:ext cx="4729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Рис. 3 - Размеры первоначальных данных и соотношение единиц и нулей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33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Настройки/преобразования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59642"/>
          </a:xfrm>
        </p:spPr>
        <p:txBody>
          <a:bodyPr>
            <a:noAutofit/>
          </a:bodyPr>
          <a:lstStyle/>
          <a:p>
            <a:pPr marL="3690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Физические данные представлены в виде</a:t>
            </a:r>
            <a:r>
              <a:rPr lang="ru-RU" dirty="0">
                <a:effectLst/>
              </a:rPr>
              <a:t> </a:t>
            </a:r>
            <a:r>
              <a:rPr lang="en-US" dirty="0" smtClean="0">
                <a:effectLst/>
              </a:rPr>
              <a:t>csv</a:t>
            </a:r>
            <a:r>
              <a:rPr lang="ru-RU" dirty="0"/>
              <a:t> </a:t>
            </a:r>
            <a:r>
              <a:rPr lang="ru-RU" dirty="0" smtClean="0"/>
              <a:t>таблицы, состоящей из чисел «1» и «-1». Ниже представлен кусок изменённых данных:</a:t>
            </a:r>
            <a:endParaRPr lang="ru-RU" dirty="0"/>
          </a:p>
          <a:p>
            <a:pPr marL="36900" indent="0">
              <a:buNone/>
            </a:pPr>
            <a:endParaRPr lang="ru-RU" dirty="0" smtClean="0"/>
          </a:p>
          <a:p>
            <a:pPr marL="36900" indent="0">
              <a:buNone/>
            </a:pPr>
            <a:endParaRPr lang="ru-RU" dirty="0"/>
          </a:p>
          <a:p>
            <a:pPr marL="36900" indent="0">
              <a:buNone/>
            </a:pPr>
            <a:endParaRPr lang="ru-RU" dirty="0" smtClean="0"/>
          </a:p>
          <a:p>
            <a:pPr marL="36900" indent="0">
              <a:buNone/>
            </a:pPr>
            <a:endParaRPr lang="ru-RU" dirty="0"/>
          </a:p>
          <a:p>
            <a:pPr marL="36900" indent="0">
              <a:buNone/>
            </a:pPr>
            <a:endParaRPr lang="ru-RU" dirty="0" smtClean="0"/>
          </a:p>
          <a:p>
            <a:pPr marL="36900" indent="0">
              <a:buNone/>
            </a:pPr>
            <a:endParaRPr lang="ru-RU" dirty="0" smtClean="0"/>
          </a:p>
          <a:p>
            <a:pPr marL="36900" indent="0" algn="ctr">
              <a:buNone/>
            </a:pPr>
            <a:r>
              <a:rPr lang="ru-RU" dirty="0" smtClean="0"/>
              <a:t>	Рис. 4 – Описание изменённой таблицы</a:t>
            </a:r>
          </a:p>
          <a:p>
            <a:pPr marL="3690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Чтобы алгоритм работал, необходимо было заменить все «-1» на «0», чтобы можно было построить классную таблицу. Кроме того, нужно было «отсоединить» последний столбец значений, так как он отвечает за принадлежность к классу.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493" y="2520621"/>
            <a:ext cx="5092205" cy="25382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00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Настройки/преобразования данных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209" y="3201103"/>
            <a:ext cx="5604086" cy="1738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7190" y="1863486"/>
            <a:ext cx="11007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	Поскольку исходные кортежи значений представляют собой данные, поступающие на вход </a:t>
            </a:r>
            <a:r>
              <a:rPr lang="en-US" dirty="0" smtClean="0"/>
              <a:t>PUF</a:t>
            </a:r>
            <a:r>
              <a:rPr lang="ru-RU" dirty="0" smtClean="0"/>
              <a:t>-функции, а последние значения кортежей являются результатами работы </a:t>
            </a:r>
            <a:r>
              <a:rPr lang="en-US" dirty="0" smtClean="0"/>
              <a:t>PUF</a:t>
            </a:r>
            <a:r>
              <a:rPr lang="ru-RU" dirty="0" smtClean="0"/>
              <a:t>-функций (выходными данными), то </a:t>
            </a:r>
            <a:r>
              <a:rPr lang="ru-RU" smtClean="0"/>
              <a:t>необходимо </a:t>
            </a:r>
            <a:r>
              <a:rPr lang="ru-RU" smtClean="0"/>
              <a:t>отделить </a:t>
            </a:r>
            <a:r>
              <a:rPr lang="ru-RU" dirty="0" smtClean="0"/>
              <a:t>выходные данные от входных и работать с ними в таком виде.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117056" y="5111201"/>
            <a:ext cx="353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Рис.5 – </a:t>
            </a:r>
            <a:r>
              <a:rPr lang="ru-RU" dirty="0"/>
              <a:t>П</a:t>
            </a:r>
            <a:r>
              <a:rPr lang="ru-RU" dirty="0" smtClean="0"/>
              <a:t>реобразование данных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3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Настройки </a:t>
            </a:r>
            <a:r>
              <a:rPr lang="ru-RU" dirty="0" smtClean="0"/>
              <a:t>алгоритма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479901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ru-RU" dirty="0" smtClean="0"/>
              <a:t>	В случае алгоритма </a:t>
            </a:r>
            <a:r>
              <a:rPr lang="en-US" dirty="0" smtClean="0"/>
              <a:t>MLP</a:t>
            </a:r>
            <a:r>
              <a:rPr lang="ru-RU" dirty="0" smtClean="0"/>
              <a:t> необходимо настроить/создать модель нейронной сети</a:t>
            </a:r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1026" name="Picture 2" descr="https://www.mdpi.com/water/water-11-01808/article_deploy/html/images/water-11-01808-g0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2221202"/>
            <a:ext cx="5353753" cy="367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82" y="2221202"/>
            <a:ext cx="4333875" cy="3867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3432" y="6279953"/>
            <a:ext cx="4917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6  - Пример многослойного персептрона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176816" y="6296297"/>
            <a:ext cx="550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7 – Код создания многослойного персептрона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348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Построение </a:t>
            </a:r>
            <a:r>
              <a:rPr lang="ru-RU" dirty="0" smtClean="0"/>
              <a:t>модели алгоритмом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5063" y="1660524"/>
            <a:ext cx="5315613" cy="4583257"/>
          </a:xfrm>
        </p:spPr>
        <p:txBody>
          <a:bodyPr/>
          <a:lstStyle/>
          <a:p>
            <a:pPr marL="36900" indent="0">
              <a:buNone/>
            </a:pPr>
            <a:r>
              <a:rPr lang="ru-RU" dirty="0" smtClean="0"/>
              <a:t>	Время построения модели алгоритмом: 0.2305</a:t>
            </a:r>
            <a:r>
              <a:rPr lang="en-US" dirty="0" smtClean="0"/>
              <a:t> </a:t>
            </a:r>
            <a:r>
              <a:rPr lang="ru-RU" dirty="0" smtClean="0"/>
              <a:t>с.</a:t>
            </a:r>
            <a:endParaRPr lang="ru-RU" dirty="0"/>
          </a:p>
          <a:p>
            <a:pPr marL="36900" indent="0">
              <a:buNone/>
            </a:pPr>
            <a:r>
              <a:rPr lang="ru-RU" dirty="0" smtClean="0"/>
              <a:t>	Работа проводилась в режиме четырёх ядер.</a:t>
            </a:r>
            <a:endParaRPr lang="ru-RU" dirty="0"/>
          </a:p>
          <a:p>
            <a:pPr marL="36900" indent="0">
              <a:buNone/>
            </a:pPr>
            <a:r>
              <a:rPr lang="ru-RU" dirty="0" smtClean="0"/>
              <a:t>	Построение модели алгоритмом выполняется частью кода, представленной на слайде.</a:t>
            </a:r>
          </a:p>
          <a:p>
            <a:pPr marL="36900" indent="0">
              <a:buNone/>
            </a:pPr>
            <a:endParaRPr lang="en-US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6" y="1660524"/>
            <a:ext cx="5233743" cy="4663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6833" y="6404729"/>
            <a:ext cx="317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8  - Построение модели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40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Построенная модель и её оценка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683571"/>
            <a:ext cx="11208536" cy="449286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dirty="0" smtClean="0"/>
              <a:t>Модель, получившаяся в результате работы представлена ниже (см. Рис.9). В ней присутствуют три скрытых слоя и входной, выходной слои.</a:t>
            </a:r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54" y="2595581"/>
            <a:ext cx="1582141" cy="3153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3795" y="5991765"/>
            <a:ext cx="322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9  - Построенная модель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063" y="2595581"/>
            <a:ext cx="5601180" cy="30311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66787" y="5991765"/>
            <a:ext cx="440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10 – Авторы предложенной модели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678194" y="6296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535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Обучение 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47333"/>
          </a:xfrm>
        </p:spPr>
        <p:txBody>
          <a:bodyPr/>
          <a:lstStyle/>
          <a:p>
            <a:pPr marL="36900" indent="0">
              <a:buNone/>
            </a:pPr>
            <a:r>
              <a:rPr lang="ru-RU" dirty="0" smtClean="0">
                <a:solidFill>
                  <a:schemeClr val="tx1"/>
                </a:solidFill>
              </a:rPr>
              <a:t>	Для оптимизирования модели был использован популярный метод </a:t>
            </a:r>
            <a:r>
              <a:rPr lang="en-US" dirty="0" smtClean="0">
                <a:solidFill>
                  <a:schemeClr val="tx1"/>
                </a:solidFill>
              </a:rPr>
              <a:t>Adam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238" y="2569585"/>
            <a:ext cx="7000875" cy="485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0947" y="3776089"/>
            <a:ext cx="9698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	Оптимизаторы определяют оптимальный набор параметров модели, таких как вес, смещение, чтобы при решении конкретной задачи модель выдавала наилучшие результаты. Они помогают делать более точные прогнозы в процессе тренировки нейронных сетей.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002105" y="3260497"/>
            <a:ext cx="617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11</a:t>
            </a:r>
            <a:r>
              <a:rPr lang="en-US" dirty="0" smtClean="0"/>
              <a:t> </a:t>
            </a:r>
            <a:r>
              <a:rPr lang="ru-RU" dirty="0" smtClean="0"/>
              <a:t>– Окончание настройки модели перед обучением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455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1802" y="4818969"/>
            <a:ext cx="8977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	Было выбрано 30 эпох (из графика, представленного далее, станет очевидно, что большее количество эпох не даст ощутимых изменений), размер партии данных  установлен в 10000. За одну эпоху весь </a:t>
            </a:r>
            <a:r>
              <a:rPr lang="ru-RU" dirty="0" err="1" smtClean="0"/>
              <a:t>датасет</a:t>
            </a:r>
            <a:r>
              <a:rPr lang="ru-RU" dirty="0" smtClean="0"/>
              <a:t> проходит через нейронную сеть один раз. Так как одна эпоха слишком велика для компьютера, </a:t>
            </a:r>
            <a:r>
              <a:rPr lang="ru-RU" dirty="0" err="1" smtClean="0"/>
              <a:t>датасет</a:t>
            </a:r>
            <a:r>
              <a:rPr lang="ru-RU" dirty="0" smtClean="0"/>
              <a:t> делят на маленькие партии.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00" y="1757711"/>
            <a:ext cx="9277350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379341" y="4316622"/>
            <a:ext cx="342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12 – Код обучения модели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43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 обучения модели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571" y="1580050"/>
            <a:ext cx="7048209" cy="29724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9293" y="5303338"/>
            <a:ext cx="964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	Точность обучения составила 98.13%. Времени на обучение на данном объёме данных было потрачено почти две минуты (при </a:t>
            </a:r>
            <a:r>
              <a:rPr lang="ru-RU" dirty="0" err="1" smtClean="0"/>
              <a:t>четырёхъядерном</a:t>
            </a:r>
            <a:r>
              <a:rPr lang="ru-RU" dirty="0" smtClean="0"/>
              <a:t> режиме работы).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966119" y="4804212"/>
            <a:ext cx="424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13 – Результаты обучения модели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714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обучения модели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849277"/>
              </p:ext>
            </p:extLst>
          </p:nvPr>
        </p:nvGraphicFramePr>
        <p:xfrm>
          <a:off x="2026676" y="1994284"/>
          <a:ext cx="8127999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934286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8269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21710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Количество</a:t>
                      </a:r>
                      <a:r>
                        <a:rPr lang="ru-RU" baseline="0" dirty="0" smtClean="0"/>
                        <a:t> ядер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Время создания модели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Время обучения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9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Последовательный</a:t>
                      </a:r>
                      <a:r>
                        <a:rPr lang="ru-RU" baseline="0" dirty="0" smtClean="0"/>
                        <a:t> анализ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2.7064 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159.8156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62491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Параллельный анализ: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343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0.2305</a:t>
                      </a:r>
                      <a:r>
                        <a:rPr lang="ru-RU" baseline="0" dirty="0" smtClean="0"/>
                        <a:t> 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111.0826 с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90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0.1870 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82.7387 с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95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0.0823</a:t>
                      </a:r>
                      <a:r>
                        <a:rPr lang="ru-RU" baseline="0" dirty="0" smtClean="0"/>
                        <a:t> с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64.6909 с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53376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26677" y="5372967"/>
            <a:ext cx="8127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	Как видно из таблицы, с увеличением количества используемых ядер уменьшается время работы, необходимое как для построения модели, так и для обучения.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655970" y="4880719"/>
            <a:ext cx="4869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Табл. 1 – Влияние количества ядер на время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График потерь при обучении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98" y="1808884"/>
            <a:ext cx="8061356" cy="4314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14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180114" y="6296297"/>
            <a:ext cx="423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 14 – График потерь при обучении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210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5" y="2231213"/>
            <a:ext cx="10353762" cy="4058751"/>
          </a:xfrm>
        </p:spPr>
        <p:txBody>
          <a:bodyPr/>
          <a:lstStyle/>
          <a:p>
            <a:pPr marL="36900" indent="0" algn="just">
              <a:buNone/>
            </a:pPr>
            <a:r>
              <a:rPr lang="ru-RU" dirty="0" smtClean="0"/>
              <a:t>	Работа алгоритма многослойных </a:t>
            </a:r>
            <a:r>
              <a:rPr lang="ru-RU" dirty="0" err="1" smtClean="0"/>
              <a:t>перцептронов</a:t>
            </a:r>
            <a:r>
              <a:rPr lang="ru-RU" dirty="0" smtClean="0"/>
              <a:t> в результате исследования показала свою высокую точность при прогнозировании результатов </a:t>
            </a:r>
            <a:r>
              <a:rPr lang="en-US" dirty="0" smtClean="0"/>
              <a:t>PUF</a:t>
            </a:r>
            <a:r>
              <a:rPr lang="ru-RU" dirty="0" smtClean="0"/>
              <a:t>-функций (6</a:t>
            </a:r>
            <a:r>
              <a:rPr lang="ru-RU" dirty="0"/>
              <a:t>-</a:t>
            </a:r>
            <a:r>
              <a:rPr lang="en-US" dirty="0" smtClean="0"/>
              <a:t>XOR</a:t>
            </a:r>
            <a:r>
              <a:rPr lang="ru-RU" dirty="0" smtClean="0"/>
              <a:t>). Точность составила около 98 процентов, что совпадает с результатами исследования других людей, чьи статьи нам удалось найти.</a:t>
            </a:r>
          </a:p>
          <a:p>
            <a:pPr marL="36900" indent="0" algn="just">
              <a:buNone/>
            </a:pPr>
            <a:r>
              <a:rPr lang="ru-RU" dirty="0" smtClean="0"/>
              <a:t>	Также можно сделать вывод о том, что при увеличении количества ядер уменьшается время работы программы.</a:t>
            </a:r>
          </a:p>
          <a:p>
            <a:pPr marL="3690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Данный метод является быстрым и доступным для «взлома» 6-</a:t>
            </a:r>
            <a:r>
              <a:rPr lang="en-US" dirty="0" smtClean="0"/>
              <a:t>XOR</a:t>
            </a:r>
            <a:r>
              <a:rPr lang="ru-RU" dirty="0" smtClean="0"/>
              <a:t> арбитра </a:t>
            </a:r>
            <a:r>
              <a:rPr lang="en-US" dirty="0" smtClean="0"/>
              <a:t>PUF-</a:t>
            </a:r>
            <a:r>
              <a:rPr lang="ru-RU" dirty="0" smtClean="0"/>
              <a:t>функции.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892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Использованная 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A Machine Learning-Based Security Vulnerability Study on XOR PUFs for Resource-Constraint Internet of Things</a:t>
            </a:r>
            <a:r>
              <a:rPr lang="ru-RU" b="1" dirty="0" smtClean="0">
                <a:effectLst/>
              </a:rPr>
              <a:t>, </a:t>
            </a:r>
            <a:r>
              <a:rPr lang="en-US" b="1" dirty="0">
                <a:effectLst/>
              </a:rPr>
              <a:t>Ahmad O. </a:t>
            </a:r>
            <a:r>
              <a:rPr lang="en-US" b="1" dirty="0" err="1" smtClean="0">
                <a:effectLst/>
              </a:rPr>
              <a:t>Aseeri</a:t>
            </a:r>
            <a:r>
              <a:rPr lang="en-US" b="1" dirty="0">
                <a:effectLst/>
              </a:rPr>
              <a:t>,</a:t>
            </a:r>
            <a:r>
              <a:rPr lang="en-US" b="1" dirty="0" smtClean="0">
                <a:effectLst/>
              </a:rPr>
              <a:t> </a:t>
            </a:r>
            <a:r>
              <a:rPr lang="en-US" b="1" dirty="0">
                <a:effectLst/>
              </a:rPr>
              <a:t>Yu Zhuang; Mohammed Saeed </a:t>
            </a:r>
            <a:r>
              <a:rPr lang="en-US" b="1" dirty="0" err="1" smtClean="0">
                <a:effectLst/>
              </a:rPr>
              <a:t>Alkatheiri</a:t>
            </a:r>
            <a:endParaRPr lang="en-US" b="1" dirty="0" smtClean="0">
              <a:effectLst/>
            </a:endParaRPr>
          </a:p>
          <a:p>
            <a:r>
              <a:rPr lang="en-US" b="1" dirty="0">
                <a:effectLst/>
              </a:rPr>
              <a:t>A Fast Deep Learning Method for Security Vulnerability Study of XOR </a:t>
            </a:r>
            <a:r>
              <a:rPr lang="en-US" b="1" dirty="0" smtClean="0">
                <a:effectLst/>
              </a:rPr>
              <a:t>PUFs, Khalid </a:t>
            </a:r>
            <a:r>
              <a:rPr lang="en-US" b="1" dirty="0">
                <a:effectLst/>
              </a:rPr>
              <a:t>T. </a:t>
            </a:r>
            <a:r>
              <a:rPr lang="en-US" b="1" dirty="0" err="1">
                <a:effectLst/>
              </a:rPr>
              <a:t>Mursi</a:t>
            </a:r>
            <a:r>
              <a:rPr lang="en-US" b="1" dirty="0">
                <a:effectLst/>
              </a:rPr>
              <a:t>, </a:t>
            </a:r>
            <a:r>
              <a:rPr lang="en-US" b="1" dirty="0" err="1">
                <a:effectLst/>
              </a:rPr>
              <a:t>Bipana</a:t>
            </a:r>
            <a:r>
              <a:rPr lang="en-US" b="1" dirty="0">
                <a:effectLst/>
              </a:rPr>
              <a:t> </a:t>
            </a:r>
            <a:r>
              <a:rPr lang="en-US" b="1" dirty="0" err="1" smtClean="0">
                <a:effectLst/>
              </a:rPr>
              <a:t>Thapaliya</a:t>
            </a:r>
            <a:r>
              <a:rPr lang="en-US" b="1" dirty="0" smtClean="0">
                <a:effectLst/>
              </a:rPr>
              <a:t>, </a:t>
            </a:r>
            <a:r>
              <a:rPr lang="en-US" b="1" dirty="0">
                <a:effectLst/>
              </a:rPr>
              <a:t>Ahmad O. </a:t>
            </a:r>
            <a:r>
              <a:rPr lang="en-US" b="1" dirty="0" err="1">
                <a:effectLst/>
              </a:rPr>
              <a:t>Aseeri</a:t>
            </a:r>
            <a:r>
              <a:rPr lang="en-US" b="1" dirty="0">
                <a:effectLst/>
              </a:rPr>
              <a:t>, Yu Zhuang; Mohammed Saeed </a:t>
            </a:r>
            <a:r>
              <a:rPr lang="en-US" b="1" dirty="0" err="1">
                <a:effectLst/>
              </a:rPr>
              <a:t>Alkatheiri</a:t>
            </a:r>
            <a:endParaRPr lang="en-US" b="1" dirty="0">
              <a:effectLst/>
            </a:endParaRPr>
          </a:p>
          <a:p>
            <a:pPr marL="36900" indent="0">
              <a:buNone/>
            </a:pPr>
            <a:endParaRPr lang="en-US" b="1" dirty="0">
              <a:effectLst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1678194" y="62962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352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8332" y="3048000"/>
            <a:ext cx="10353762" cy="970450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34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893</TotalTime>
  <Words>439</Words>
  <Application>Microsoft Office PowerPoint</Application>
  <PresentationFormat>Широкоэкранный</PresentationFormat>
  <Paragraphs>114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Calisto MT</vt:lpstr>
      <vt:lpstr>Consolas</vt:lpstr>
      <vt:lpstr>Trebuchet MS</vt:lpstr>
      <vt:lpstr>Wingdings 2</vt:lpstr>
      <vt:lpstr>Сланец</vt:lpstr>
      <vt:lpstr>Доклад 2</vt:lpstr>
      <vt:lpstr>Выбранные системы хранения и анализа</vt:lpstr>
      <vt:lpstr>Процесс анализа</vt:lpstr>
      <vt:lpstr>Результаты анализа</vt:lpstr>
      <vt:lpstr>Настройки/преобразования данных</vt:lpstr>
      <vt:lpstr>Настройки/преобразования данных</vt:lpstr>
      <vt:lpstr>Настройки алгоритма </vt:lpstr>
      <vt:lpstr>Построение модели алгоритмом:</vt:lpstr>
      <vt:lpstr>Построенная модель и её оценка</vt:lpstr>
      <vt:lpstr>Обучение модели</vt:lpstr>
      <vt:lpstr>Обучение модели</vt:lpstr>
      <vt:lpstr>Результат обучения модели</vt:lpstr>
      <vt:lpstr>Результат обучения модели</vt:lpstr>
      <vt:lpstr>График потерь при обучении</vt:lpstr>
      <vt:lpstr>Выводы</vt:lpstr>
      <vt:lpstr>Использованная литература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2</dc:title>
  <dc:creator>Sonia Petrova</dc:creator>
  <cp:lastModifiedBy>User</cp:lastModifiedBy>
  <cp:revision>33</cp:revision>
  <dcterms:created xsi:type="dcterms:W3CDTF">2022-04-20T08:13:42Z</dcterms:created>
  <dcterms:modified xsi:type="dcterms:W3CDTF">2022-04-27T16:08:07Z</dcterms:modified>
</cp:coreProperties>
</file>