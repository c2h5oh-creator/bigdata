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0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3" r:id="rId8"/>
    <p:sldId id="261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119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28650" y="4660129"/>
            <a:ext cx="5486400" cy="94795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 b="1" cap="all" normalizeH="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Подзаголовок презентации</a:t>
            </a:r>
            <a:endParaRPr lang="en-US" dirty="0"/>
          </a:p>
        </p:txBody>
      </p:sp>
      <p:pic>
        <p:nvPicPr>
          <p:cNvPr id="7" name="object 3">
            <a:extLst>
              <a:ext uri="{FF2B5EF4-FFF2-40B4-BE49-F238E27FC236}">
                <a16:creationId xmlns:a16="http://schemas.microsoft.com/office/drawing/2014/main" id="{C6CA1428-B36B-6718-3686-B2FDE858DE0D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85187" y="455062"/>
            <a:ext cx="1936909" cy="334249"/>
          </a:xfrm>
          <a:prstGeom prst="rect">
            <a:avLst/>
          </a:prstGeom>
        </p:spPr>
      </p:pic>
      <p:sp>
        <p:nvSpPr>
          <p:cNvPr id="8" name="object 4">
            <a:extLst>
              <a:ext uri="{FF2B5EF4-FFF2-40B4-BE49-F238E27FC236}">
                <a16:creationId xmlns:a16="http://schemas.microsoft.com/office/drawing/2014/main" id="{BF4CDBDE-7C80-5330-0698-8F73C94E1593}"/>
              </a:ext>
            </a:extLst>
          </p:cNvPr>
          <p:cNvSpPr/>
          <p:nvPr/>
        </p:nvSpPr>
        <p:spPr>
          <a:xfrm>
            <a:off x="628649" y="384681"/>
            <a:ext cx="488777" cy="488777"/>
          </a:xfrm>
          <a:custGeom>
            <a:avLst/>
            <a:gdLst/>
            <a:ahLst/>
            <a:cxnLst/>
            <a:rect l="l" t="t" r="r" b="b"/>
            <a:pathLst>
              <a:path w="396240" h="396240">
                <a:moveTo>
                  <a:pt x="245262" y="214896"/>
                </a:moveTo>
                <a:lnTo>
                  <a:pt x="233426" y="214896"/>
                </a:lnTo>
                <a:lnTo>
                  <a:pt x="233832" y="219125"/>
                </a:lnTo>
                <a:lnTo>
                  <a:pt x="234073" y="224396"/>
                </a:lnTo>
                <a:lnTo>
                  <a:pt x="234188" y="231482"/>
                </a:lnTo>
                <a:lnTo>
                  <a:pt x="234188" y="251802"/>
                </a:lnTo>
                <a:lnTo>
                  <a:pt x="234073" y="259511"/>
                </a:lnTo>
                <a:lnTo>
                  <a:pt x="233832" y="265163"/>
                </a:lnTo>
                <a:lnTo>
                  <a:pt x="233426" y="269557"/>
                </a:lnTo>
                <a:lnTo>
                  <a:pt x="245262" y="269557"/>
                </a:lnTo>
                <a:lnTo>
                  <a:pt x="244868" y="265163"/>
                </a:lnTo>
                <a:lnTo>
                  <a:pt x="244614" y="259511"/>
                </a:lnTo>
                <a:lnTo>
                  <a:pt x="244500" y="251802"/>
                </a:lnTo>
                <a:lnTo>
                  <a:pt x="244500" y="231482"/>
                </a:lnTo>
                <a:lnTo>
                  <a:pt x="244614" y="224396"/>
                </a:lnTo>
                <a:lnTo>
                  <a:pt x="244868" y="219125"/>
                </a:lnTo>
                <a:lnTo>
                  <a:pt x="245262" y="214896"/>
                </a:lnTo>
                <a:close/>
              </a:path>
              <a:path w="396240" h="396240">
                <a:moveTo>
                  <a:pt x="296684" y="247853"/>
                </a:moveTo>
                <a:lnTo>
                  <a:pt x="293471" y="243878"/>
                </a:lnTo>
                <a:lnTo>
                  <a:pt x="292900" y="243166"/>
                </a:lnTo>
                <a:lnTo>
                  <a:pt x="286004" y="240982"/>
                </a:lnTo>
                <a:lnTo>
                  <a:pt x="291807" y="238874"/>
                </a:lnTo>
                <a:lnTo>
                  <a:pt x="291985" y="238633"/>
                </a:lnTo>
                <a:lnTo>
                  <a:pt x="295071" y="234505"/>
                </a:lnTo>
                <a:lnTo>
                  <a:pt x="295071" y="219354"/>
                </a:lnTo>
                <a:lnTo>
                  <a:pt x="294589" y="218973"/>
                </a:lnTo>
                <a:lnTo>
                  <a:pt x="288251" y="213969"/>
                </a:lnTo>
                <a:lnTo>
                  <a:pt x="285419" y="213969"/>
                </a:lnTo>
                <a:lnTo>
                  <a:pt x="285419" y="261594"/>
                </a:lnTo>
                <a:lnTo>
                  <a:pt x="282003" y="265582"/>
                </a:lnTo>
                <a:lnTo>
                  <a:pt x="270967" y="265582"/>
                </a:lnTo>
                <a:lnTo>
                  <a:pt x="267423" y="261442"/>
                </a:lnTo>
                <a:lnTo>
                  <a:pt x="267423" y="247853"/>
                </a:lnTo>
                <a:lnTo>
                  <a:pt x="270827" y="243878"/>
                </a:lnTo>
                <a:lnTo>
                  <a:pt x="281940" y="243878"/>
                </a:lnTo>
                <a:lnTo>
                  <a:pt x="285343" y="247929"/>
                </a:lnTo>
                <a:lnTo>
                  <a:pt x="285419" y="261594"/>
                </a:lnTo>
                <a:lnTo>
                  <a:pt x="285419" y="213969"/>
                </a:lnTo>
                <a:lnTo>
                  <a:pt x="284111" y="213969"/>
                </a:lnTo>
                <a:lnTo>
                  <a:pt x="284111" y="222719"/>
                </a:lnTo>
                <a:lnTo>
                  <a:pt x="284111" y="234975"/>
                </a:lnTo>
                <a:lnTo>
                  <a:pt x="281203" y="238633"/>
                </a:lnTo>
                <a:lnTo>
                  <a:pt x="271627" y="238633"/>
                </a:lnTo>
                <a:lnTo>
                  <a:pt x="268719" y="234975"/>
                </a:lnTo>
                <a:lnTo>
                  <a:pt x="268643" y="222554"/>
                </a:lnTo>
                <a:lnTo>
                  <a:pt x="271551" y="218973"/>
                </a:lnTo>
                <a:lnTo>
                  <a:pt x="281203" y="218973"/>
                </a:lnTo>
                <a:lnTo>
                  <a:pt x="284111" y="222719"/>
                </a:lnTo>
                <a:lnTo>
                  <a:pt x="284111" y="213969"/>
                </a:lnTo>
                <a:lnTo>
                  <a:pt x="264731" y="213969"/>
                </a:lnTo>
                <a:lnTo>
                  <a:pt x="257721" y="219354"/>
                </a:lnTo>
                <a:lnTo>
                  <a:pt x="257683" y="234886"/>
                </a:lnTo>
                <a:lnTo>
                  <a:pt x="260883" y="239026"/>
                </a:lnTo>
                <a:lnTo>
                  <a:pt x="266763" y="241134"/>
                </a:lnTo>
                <a:lnTo>
                  <a:pt x="259943" y="243332"/>
                </a:lnTo>
                <a:lnTo>
                  <a:pt x="256209" y="248018"/>
                </a:lnTo>
                <a:lnTo>
                  <a:pt x="256095" y="264795"/>
                </a:lnTo>
                <a:lnTo>
                  <a:pt x="263499" y="270573"/>
                </a:lnTo>
                <a:lnTo>
                  <a:pt x="276123" y="270573"/>
                </a:lnTo>
                <a:lnTo>
                  <a:pt x="284835" y="269494"/>
                </a:lnTo>
                <a:lnTo>
                  <a:pt x="291312" y="266369"/>
                </a:lnTo>
                <a:lnTo>
                  <a:pt x="291947" y="265582"/>
                </a:lnTo>
                <a:lnTo>
                  <a:pt x="295351" y="261353"/>
                </a:lnTo>
                <a:lnTo>
                  <a:pt x="296659" y="255041"/>
                </a:lnTo>
                <a:lnTo>
                  <a:pt x="296684" y="247853"/>
                </a:lnTo>
                <a:close/>
              </a:path>
              <a:path w="396240" h="396240">
                <a:moveTo>
                  <a:pt x="345046" y="247853"/>
                </a:moveTo>
                <a:lnTo>
                  <a:pt x="341833" y="243878"/>
                </a:lnTo>
                <a:lnTo>
                  <a:pt x="341261" y="243166"/>
                </a:lnTo>
                <a:lnTo>
                  <a:pt x="334365" y="240982"/>
                </a:lnTo>
                <a:lnTo>
                  <a:pt x="340169" y="238874"/>
                </a:lnTo>
                <a:lnTo>
                  <a:pt x="340347" y="238633"/>
                </a:lnTo>
                <a:lnTo>
                  <a:pt x="343433" y="234505"/>
                </a:lnTo>
                <a:lnTo>
                  <a:pt x="343433" y="219354"/>
                </a:lnTo>
                <a:lnTo>
                  <a:pt x="342950" y="218973"/>
                </a:lnTo>
                <a:lnTo>
                  <a:pt x="336613" y="213969"/>
                </a:lnTo>
                <a:lnTo>
                  <a:pt x="333781" y="213969"/>
                </a:lnTo>
                <a:lnTo>
                  <a:pt x="333781" y="261594"/>
                </a:lnTo>
                <a:lnTo>
                  <a:pt x="330365" y="265582"/>
                </a:lnTo>
                <a:lnTo>
                  <a:pt x="319328" y="265582"/>
                </a:lnTo>
                <a:lnTo>
                  <a:pt x="315785" y="261442"/>
                </a:lnTo>
                <a:lnTo>
                  <a:pt x="315785" y="247853"/>
                </a:lnTo>
                <a:lnTo>
                  <a:pt x="319189" y="243878"/>
                </a:lnTo>
                <a:lnTo>
                  <a:pt x="330301" y="243878"/>
                </a:lnTo>
                <a:lnTo>
                  <a:pt x="333705" y="247929"/>
                </a:lnTo>
                <a:lnTo>
                  <a:pt x="333781" y="261594"/>
                </a:lnTo>
                <a:lnTo>
                  <a:pt x="333781" y="213969"/>
                </a:lnTo>
                <a:lnTo>
                  <a:pt x="332473" y="213969"/>
                </a:lnTo>
                <a:lnTo>
                  <a:pt x="332473" y="222719"/>
                </a:lnTo>
                <a:lnTo>
                  <a:pt x="332473" y="234975"/>
                </a:lnTo>
                <a:lnTo>
                  <a:pt x="329565" y="238633"/>
                </a:lnTo>
                <a:lnTo>
                  <a:pt x="319989" y="238633"/>
                </a:lnTo>
                <a:lnTo>
                  <a:pt x="317068" y="234975"/>
                </a:lnTo>
                <a:lnTo>
                  <a:pt x="317004" y="222554"/>
                </a:lnTo>
                <a:lnTo>
                  <a:pt x="319913" y="218973"/>
                </a:lnTo>
                <a:lnTo>
                  <a:pt x="329565" y="218973"/>
                </a:lnTo>
                <a:lnTo>
                  <a:pt x="332473" y="222719"/>
                </a:lnTo>
                <a:lnTo>
                  <a:pt x="332473" y="213969"/>
                </a:lnTo>
                <a:lnTo>
                  <a:pt x="313093" y="213969"/>
                </a:lnTo>
                <a:lnTo>
                  <a:pt x="306070" y="219354"/>
                </a:lnTo>
                <a:lnTo>
                  <a:pt x="306031" y="234886"/>
                </a:lnTo>
                <a:lnTo>
                  <a:pt x="309245" y="239026"/>
                </a:lnTo>
                <a:lnTo>
                  <a:pt x="315125" y="241134"/>
                </a:lnTo>
                <a:lnTo>
                  <a:pt x="308305" y="243332"/>
                </a:lnTo>
                <a:lnTo>
                  <a:pt x="304546" y="248018"/>
                </a:lnTo>
                <a:lnTo>
                  <a:pt x="304444" y="264795"/>
                </a:lnTo>
                <a:lnTo>
                  <a:pt x="311861" y="270573"/>
                </a:lnTo>
                <a:lnTo>
                  <a:pt x="324485" y="270573"/>
                </a:lnTo>
                <a:lnTo>
                  <a:pt x="333184" y="269494"/>
                </a:lnTo>
                <a:lnTo>
                  <a:pt x="339661" y="266369"/>
                </a:lnTo>
                <a:lnTo>
                  <a:pt x="340309" y="265582"/>
                </a:lnTo>
                <a:lnTo>
                  <a:pt x="343712" y="261353"/>
                </a:lnTo>
                <a:lnTo>
                  <a:pt x="345008" y="255041"/>
                </a:lnTo>
                <a:lnTo>
                  <a:pt x="345046" y="247853"/>
                </a:lnTo>
                <a:close/>
              </a:path>
              <a:path w="396240" h="396240">
                <a:moveTo>
                  <a:pt x="392823" y="240423"/>
                </a:moveTo>
                <a:lnTo>
                  <a:pt x="392214" y="239801"/>
                </a:lnTo>
                <a:lnTo>
                  <a:pt x="386880" y="234340"/>
                </a:lnTo>
                <a:lnTo>
                  <a:pt x="382016" y="234340"/>
                </a:lnTo>
                <a:lnTo>
                  <a:pt x="382016" y="245262"/>
                </a:lnTo>
                <a:lnTo>
                  <a:pt x="381914" y="260642"/>
                </a:lnTo>
                <a:lnTo>
                  <a:pt x="379031" y="265252"/>
                </a:lnTo>
                <a:lnTo>
                  <a:pt x="368427" y="265252"/>
                </a:lnTo>
                <a:lnTo>
                  <a:pt x="364883" y="260642"/>
                </a:lnTo>
                <a:lnTo>
                  <a:pt x="364299" y="246202"/>
                </a:lnTo>
                <a:lnTo>
                  <a:pt x="366179" y="244017"/>
                </a:lnTo>
                <a:lnTo>
                  <a:pt x="369239" y="241515"/>
                </a:lnTo>
                <a:lnTo>
                  <a:pt x="379107" y="241515"/>
                </a:lnTo>
                <a:lnTo>
                  <a:pt x="382016" y="245262"/>
                </a:lnTo>
                <a:lnTo>
                  <a:pt x="382016" y="234340"/>
                </a:lnTo>
                <a:lnTo>
                  <a:pt x="370751" y="234340"/>
                </a:lnTo>
                <a:lnTo>
                  <a:pt x="366699" y="237147"/>
                </a:lnTo>
                <a:lnTo>
                  <a:pt x="364223" y="239801"/>
                </a:lnTo>
                <a:lnTo>
                  <a:pt x="364591" y="227469"/>
                </a:lnTo>
                <a:lnTo>
                  <a:pt x="368147" y="219036"/>
                </a:lnTo>
                <a:lnTo>
                  <a:pt x="383895" y="219036"/>
                </a:lnTo>
                <a:lnTo>
                  <a:pt x="387464" y="225590"/>
                </a:lnTo>
                <a:lnTo>
                  <a:pt x="387464" y="219036"/>
                </a:lnTo>
                <a:lnTo>
                  <a:pt x="387426" y="215900"/>
                </a:lnTo>
                <a:lnTo>
                  <a:pt x="383540" y="213956"/>
                </a:lnTo>
                <a:lnTo>
                  <a:pt x="376351" y="213956"/>
                </a:lnTo>
                <a:lnTo>
                  <a:pt x="366826" y="215912"/>
                </a:lnTo>
                <a:lnTo>
                  <a:pt x="359384" y="221576"/>
                </a:lnTo>
                <a:lnTo>
                  <a:pt x="354495" y="230759"/>
                </a:lnTo>
                <a:lnTo>
                  <a:pt x="352755" y="243243"/>
                </a:lnTo>
                <a:lnTo>
                  <a:pt x="354164" y="255485"/>
                </a:lnTo>
                <a:lnTo>
                  <a:pt x="358254" y="263994"/>
                </a:lnTo>
                <a:lnTo>
                  <a:pt x="364782" y="268960"/>
                </a:lnTo>
                <a:lnTo>
                  <a:pt x="373519" y="270560"/>
                </a:lnTo>
                <a:lnTo>
                  <a:pt x="381685" y="269214"/>
                </a:lnTo>
                <a:lnTo>
                  <a:pt x="387743" y="265353"/>
                </a:lnTo>
                <a:lnTo>
                  <a:pt x="391515" y="259308"/>
                </a:lnTo>
                <a:lnTo>
                  <a:pt x="392823" y="251358"/>
                </a:lnTo>
                <a:lnTo>
                  <a:pt x="392823" y="241515"/>
                </a:lnTo>
                <a:lnTo>
                  <a:pt x="392823" y="240423"/>
                </a:lnTo>
                <a:close/>
              </a:path>
              <a:path w="396240" h="396240">
                <a:moveTo>
                  <a:pt x="396113" y="192557"/>
                </a:moveTo>
                <a:lnTo>
                  <a:pt x="396100" y="192417"/>
                </a:lnTo>
                <a:lnTo>
                  <a:pt x="395820" y="189979"/>
                </a:lnTo>
                <a:lnTo>
                  <a:pt x="395465" y="186918"/>
                </a:lnTo>
                <a:lnTo>
                  <a:pt x="392976" y="165277"/>
                </a:lnTo>
                <a:lnTo>
                  <a:pt x="380822" y="120281"/>
                </a:lnTo>
                <a:lnTo>
                  <a:pt x="356730" y="79400"/>
                </a:lnTo>
                <a:lnTo>
                  <a:pt x="356730" y="160324"/>
                </a:lnTo>
                <a:lnTo>
                  <a:pt x="349377" y="160997"/>
                </a:lnTo>
                <a:lnTo>
                  <a:pt x="342798" y="140906"/>
                </a:lnTo>
                <a:lnTo>
                  <a:pt x="333565" y="121640"/>
                </a:lnTo>
                <a:lnTo>
                  <a:pt x="321652" y="103479"/>
                </a:lnTo>
                <a:lnTo>
                  <a:pt x="311480" y="91808"/>
                </a:lnTo>
                <a:lnTo>
                  <a:pt x="311480" y="164426"/>
                </a:lnTo>
                <a:lnTo>
                  <a:pt x="302171" y="165277"/>
                </a:lnTo>
                <a:lnTo>
                  <a:pt x="282092" y="127342"/>
                </a:lnTo>
                <a:lnTo>
                  <a:pt x="263728" y="110540"/>
                </a:lnTo>
                <a:lnTo>
                  <a:pt x="263728" y="168744"/>
                </a:lnTo>
                <a:lnTo>
                  <a:pt x="62852" y="186918"/>
                </a:lnTo>
                <a:lnTo>
                  <a:pt x="81026" y="144678"/>
                </a:lnTo>
                <a:lnTo>
                  <a:pt x="126276" y="109359"/>
                </a:lnTo>
                <a:lnTo>
                  <a:pt x="165836" y="101663"/>
                </a:lnTo>
                <a:lnTo>
                  <a:pt x="205397" y="109359"/>
                </a:lnTo>
                <a:lnTo>
                  <a:pt x="240182" y="132448"/>
                </a:lnTo>
                <a:lnTo>
                  <a:pt x="263728" y="168744"/>
                </a:lnTo>
                <a:lnTo>
                  <a:pt x="263728" y="110540"/>
                </a:lnTo>
                <a:lnTo>
                  <a:pt x="250355" y="101663"/>
                </a:lnTo>
                <a:lnTo>
                  <a:pt x="231038" y="88836"/>
                </a:lnTo>
                <a:lnTo>
                  <a:pt x="184213" y="79717"/>
                </a:lnTo>
                <a:lnTo>
                  <a:pt x="137375" y="88836"/>
                </a:lnTo>
                <a:lnTo>
                  <a:pt x="96215" y="116166"/>
                </a:lnTo>
                <a:lnTo>
                  <a:pt x="72605" y="149377"/>
                </a:lnTo>
                <a:lnTo>
                  <a:pt x="61302" y="187058"/>
                </a:lnTo>
                <a:lnTo>
                  <a:pt x="29083" y="189979"/>
                </a:lnTo>
                <a:lnTo>
                  <a:pt x="42329" y="145275"/>
                </a:lnTo>
                <a:lnTo>
                  <a:pt x="70294" y="105905"/>
                </a:lnTo>
                <a:lnTo>
                  <a:pt x="108038" y="78651"/>
                </a:lnTo>
                <a:lnTo>
                  <a:pt x="150876" y="65024"/>
                </a:lnTo>
                <a:lnTo>
                  <a:pt x="195402" y="65024"/>
                </a:lnTo>
                <a:lnTo>
                  <a:pt x="238239" y="78651"/>
                </a:lnTo>
                <a:lnTo>
                  <a:pt x="275983" y="105905"/>
                </a:lnTo>
                <a:lnTo>
                  <a:pt x="305447" y="148653"/>
                </a:lnTo>
                <a:lnTo>
                  <a:pt x="311480" y="164426"/>
                </a:lnTo>
                <a:lnTo>
                  <a:pt x="311480" y="91808"/>
                </a:lnTo>
                <a:lnTo>
                  <a:pt x="307022" y="86690"/>
                </a:lnTo>
                <a:lnTo>
                  <a:pt x="278612" y="65024"/>
                </a:lnTo>
                <a:lnTo>
                  <a:pt x="272186" y="60121"/>
                </a:lnTo>
                <a:lnTo>
                  <a:pt x="232956" y="44170"/>
                </a:lnTo>
                <a:lnTo>
                  <a:pt x="191516" y="38849"/>
                </a:lnTo>
                <a:lnTo>
                  <a:pt x="150075" y="44170"/>
                </a:lnTo>
                <a:lnTo>
                  <a:pt x="110845" y="60121"/>
                </a:lnTo>
                <a:lnTo>
                  <a:pt x="76009" y="86690"/>
                </a:lnTo>
                <a:lnTo>
                  <a:pt x="42710" y="135026"/>
                </a:lnTo>
                <a:lnTo>
                  <a:pt x="28917" y="189992"/>
                </a:lnTo>
                <a:lnTo>
                  <a:pt x="10299" y="191668"/>
                </a:lnTo>
                <a:lnTo>
                  <a:pt x="279" y="192417"/>
                </a:lnTo>
                <a:lnTo>
                  <a:pt x="4775" y="160997"/>
                </a:lnTo>
                <a:lnTo>
                  <a:pt x="4889" y="160324"/>
                </a:lnTo>
                <a:lnTo>
                  <a:pt x="31115" y="100520"/>
                </a:lnTo>
                <a:lnTo>
                  <a:pt x="91452" y="44805"/>
                </a:lnTo>
                <a:lnTo>
                  <a:pt x="134924" y="27139"/>
                </a:lnTo>
                <a:lnTo>
                  <a:pt x="180822" y="21247"/>
                </a:lnTo>
                <a:lnTo>
                  <a:pt x="226733" y="27139"/>
                </a:lnTo>
                <a:lnTo>
                  <a:pt x="270192" y="44805"/>
                </a:lnTo>
                <a:lnTo>
                  <a:pt x="308787" y="74244"/>
                </a:lnTo>
                <a:lnTo>
                  <a:pt x="339217" y="114693"/>
                </a:lnTo>
                <a:lnTo>
                  <a:pt x="356730" y="160324"/>
                </a:lnTo>
                <a:lnTo>
                  <a:pt x="356730" y="79400"/>
                </a:lnTo>
                <a:lnTo>
                  <a:pt x="302399" y="28422"/>
                </a:lnTo>
                <a:lnTo>
                  <a:pt x="262369" y="9474"/>
                </a:lnTo>
                <a:lnTo>
                  <a:pt x="219811" y="0"/>
                </a:lnTo>
                <a:lnTo>
                  <a:pt x="176415" y="0"/>
                </a:lnTo>
                <a:lnTo>
                  <a:pt x="133858" y="9474"/>
                </a:lnTo>
                <a:lnTo>
                  <a:pt x="93814" y="28422"/>
                </a:lnTo>
                <a:lnTo>
                  <a:pt x="57988" y="56845"/>
                </a:lnTo>
                <a:lnTo>
                  <a:pt x="33248" y="86982"/>
                </a:lnTo>
                <a:lnTo>
                  <a:pt x="4330" y="155778"/>
                </a:lnTo>
                <a:lnTo>
                  <a:pt x="0" y="199351"/>
                </a:lnTo>
                <a:lnTo>
                  <a:pt x="114" y="196748"/>
                </a:lnTo>
                <a:lnTo>
                  <a:pt x="406" y="209410"/>
                </a:lnTo>
                <a:lnTo>
                  <a:pt x="6311" y="247700"/>
                </a:lnTo>
                <a:lnTo>
                  <a:pt x="22796" y="290372"/>
                </a:lnTo>
                <a:lnTo>
                  <a:pt x="47701" y="326999"/>
                </a:lnTo>
                <a:lnTo>
                  <a:pt x="79578" y="356743"/>
                </a:lnTo>
                <a:lnTo>
                  <a:pt x="116992" y="378726"/>
                </a:lnTo>
                <a:lnTo>
                  <a:pt x="158483" y="392125"/>
                </a:lnTo>
                <a:lnTo>
                  <a:pt x="202590" y="396074"/>
                </a:lnTo>
                <a:lnTo>
                  <a:pt x="247891" y="389712"/>
                </a:lnTo>
                <a:lnTo>
                  <a:pt x="265938" y="383146"/>
                </a:lnTo>
                <a:lnTo>
                  <a:pt x="283464" y="376770"/>
                </a:lnTo>
                <a:lnTo>
                  <a:pt x="315023" y="357911"/>
                </a:lnTo>
                <a:lnTo>
                  <a:pt x="342099" y="333959"/>
                </a:lnTo>
                <a:lnTo>
                  <a:pt x="364223" y="305739"/>
                </a:lnTo>
                <a:lnTo>
                  <a:pt x="363855" y="305739"/>
                </a:lnTo>
                <a:lnTo>
                  <a:pt x="343865" y="329730"/>
                </a:lnTo>
                <a:lnTo>
                  <a:pt x="319836" y="350100"/>
                </a:lnTo>
                <a:lnTo>
                  <a:pt x="292138" y="366179"/>
                </a:lnTo>
                <a:lnTo>
                  <a:pt x="261124" y="377317"/>
                </a:lnTo>
                <a:lnTo>
                  <a:pt x="212940" y="383146"/>
                </a:lnTo>
                <a:lnTo>
                  <a:pt x="166509" y="376351"/>
                </a:lnTo>
                <a:lnTo>
                  <a:pt x="123952" y="358165"/>
                </a:lnTo>
                <a:lnTo>
                  <a:pt x="87363" y="329831"/>
                </a:lnTo>
                <a:lnTo>
                  <a:pt x="58839" y="292569"/>
                </a:lnTo>
                <a:lnTo>
                  <a:pt x="40500" y="247624"/>
                </a:lnTo>
                <a:lnTo>
                  <a:pt x="34861" y="206743"/>
                </a:lnTo>
                <a:lnTo>
                  <a:pt x="35001" y="196748"/>
                </a:lnTo>
                <a:lnTo>
                  <a:pt x="35077" y="192557"/>
                </a:lnTo>
                <a:lnTo>
                  <a:pt x="43281" y="192557"/>
                </a:lnTo>
                <a:lnTo>
                  <a:pt x="43345" y="203695"/>
                </a:lnTo>
                <a:lnTo>
                  <a:pt x="44170" y="214909"/>
                </a:lnTo>
                <a:lnTo>
                  <a:pt x="64731" y="277736"/>
                </a:lnTo>
                <a:lnTo>
                  <a:pt x="90297" y="311137"/>
                </a:lnTo>
                <a:lnTo>
                  <a:pt x="123101" y="336537"/>
                </a:lnTo>
                <a:lnTo>
                  <a:pt x="161239" y="352844"/>
                </a:lnTo>
                <a:lnTo>
                  <a:pt x="202857" y="358940"/>
                </a:lnTo>
                <a:lnTo>
                  <a:pt x="246049" y="353707"/>
                </a:lnTo>
                <a:lnTo>
                  <a:pt x="268859" y="345922"/>
                </a:lnTo>
                <a:lnTo>
                  <a:pt x="269646" y="345503"/>
                </a:lnTo>
                <a:lnTo>
                  <a:pt x="289699" y="335102"/>
                </a:lnTo>
                <a:lnTo>
                  <a:pt x="308444" y="321602"/>
                </a:lnTo>
                <a:lnTo>
                  <a:pt x="324929" y="305739"/>
                </a:lnTo>
                <a:lnTo>
                  <a:pt x="324713" y="305739"/>
                </a:lnTo>
                <a:lnTo>
                  <a:pt x="303631" y="322351"/>
                </a:lnTo>
                <a:lnTo>
                  <a:pt x="279666" y="334860"/>
                </a:lnTo>
                <a:lnTo>
                  <a:pt x="253326" y="342760"/>
                </a:lnTo>
                <a:lnTo>
                  <a:pt x="225132" y="345503"/>
                </a:lnTo>
                <a:lnTo>
                  <a:pt x="194818" y="342328"/>
                </a:lnTo>
                <a:lnTo>
                  <a:pt x="141427" y="318833"/>
                </a:lnTo>
                <a:lnTo>
                  <a:pt x="117436" y="297459"/>
                </a:lnTo>
                <a:lnTo>
                  <a:pt x="116992" y="296976"/>
                </a:lnTo>
                <a:lnTo>
                  <a:pt x="90030" y="253530"/>
                </a:lnTo>
                <a:lnTo>
                  <a:pt x="80670" y="214477"/>
                </a:lnTo>
                <a:lnTo>
                  <a:pt x="80086" y="203695"/>
                </a:lnTo>
                <a:lnTo>
                  <a:pt x="80289" y="192557"/>
                </a:lnTo>
                <a:lnTo>
                  <a:pt x="89585" y="192557"/>
                </a:lnTo>
                <a:lnTo>
                  <a:pt x="89535" y="203695"/>
                </a:lnTo>
                <a:lnTo>
                  <a:pt x="89966" y="211201"/>
                </a:lnTo>
                <a:lnTo>
                  <a:pt x="114909" y="274459"/>
                </a:lnTo>
                <a:lnTo>
                  <a:pt x="150660" y="306057"/>
                </a:lnTo>
                <a:lnTo>
                  <a:pt x="195656" y="321932"/>
                </a:lnTo>
                <a:lnTo>
                  <a:pt x="245008" y="319214"/>
                </a:lnTo>
                <a:lnTo>
                  <a:pt x="253517" y="316674"/>
                </a:lnTo>
                <a:lnTo>
                  <a:pt x="258737" y="314667"/>
                </a:lnTo>
                <a:lnTo>
                  <a:pt x="261683" y="313550"/>
                </a:lnTo>
                <a:lnTo>
                  <a:pt x="269506" y="309892"/>
                </a:lnTo>
                <a:lnTo>
                  <a:pt x="276999" y="305739"/>
                </a:lnTo>
                <a:lnTo>
                  <a:pt x="274650" y="305739"/>
                </a:lnTo>
                <a:lnTo>
                  <a:pt x="264566" y="309549"/>
                </a:lnTo>
                <a:lnTo>
                  <a:pt x="254038" y="312343"/>
                </a:lnTo>
                <a:lnTo>
                  <a:pt x="243128" y="314083"/>
                </a:lnTo>
                <a:lnTo>
                  <a:pt x="231876" y="314667"/>
                </a:lnTo>
                <a:lnTo>
                  <a:pt x="189865" y="306197"/>
                </a:lnTo>
                <a:lnTo>
                  <a:pt x="155549" y="283057"/>
                </a:lnTo>
                <a:lnTo>
                  <a:pt x="132422" y="248754"/>
                </a:lnTo>
                <a:lnTo>
                  <a:pt x="123939" y="206743"/>
                </a:lnTo>
                <a:lnTo>
                  <a:pt x="123939" y="201841"/>
                </a:lnTo>
                <a:lnTo>
                  <a:pt x="124409" y="197231"/>
                </a:lnTo>
                <a:lnTo>
                  <a:pt x="125056" y="192557"/>
                </a:lnTo>
                <a:lnTo>
                  <a:pt x="396113" y="192557"/>
                </a:lnTo>
                <a:close/>
              </a:path>
            </a:pathLst>
          </a:custGeom>
          <a:solidFill>
            <a:srgbClr val="05336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EB686145-5076-A23D-E771-4FE4217468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057744"/>
            <a:ext cx="5486400" cy="132556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4000" b="1" cap="all" baseline="0"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Заголовок презентации</a:t>
            </a:r>
          </a:p>
        </p:txBody>
      </p:sp>
      <p:sp>
        <p:nvSpPr>
          <p:cNvPr id="15" name="Дата 14">
            <a:extLst>
              <a:ext uri="{FF2B5EF4-FFF2-40B4-BE49-F238E27FC236}">
                <a16:creationId xmlns:a16="http://schemas.microsoft.com/office/drawing/2014/main" id="{9A4FEA7D-DD48-D2DE-3D61-8547D699A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0EE7C-E81F-424C-831A-BCFC36EBEBD9}" type="datetime1">
              <a:rPr lang="ru-RU" smtClean="0"/>
              <a:t>13.03.2026</a:t>
            </a:fld>
            <a:endParaRPr lang="ru-RU"/>
          </a:p>
        </p:txBody>
      </p:sp>
      <p:sp>
        <p:nvSpPr>
          <p:cNvPr id="16" name="Нижний колонтитул 15">
            <a:extLst>
              <a:ext uri="{FF2B5EF4-FFF2-40B4-BE49-F238E27FC236}">
                <a16:creationId xmlns:a16="http://schemas.microsoft.com/office/drawing/2014/main" id="{4B668A3F-068C-5AB9-7B3B-274C027B8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7" name="Номер слайда 16">
            <a:extLst>
              <a:ext uri="{FF2B5EF4-FFF2-40B4-BE49-F238E27FC236}">
                <a16:creationId xmlns:a16="http://schemas.microsoft.com/office/drawing/2014/main" id="{C65E834B-3ADC-B74A-E816-E3277C349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5579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Титульный слайд раздела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FEDCCB-90EE-EF95-6E34-747A29144D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79" y="2766218"/>
            <a:ext cx="8474042" cy="1325563"/>
          </a:xfrm>
          <a:prstGeom prst="rect">
            <a:avLst/>
          </a:prstGeom>
          <a:ln w="38100">
            <a:solidFill>
              <a:schemeClr val="accent2"/>
            </a:solidFill>
          </a:ln>
        </p:spPr>
        <p:txBody>
          <a:bodyPr anchor="ctr"/>
          <a:lstStyle>
            <a:lvl1pPr algn="ctr">
              <a:defRPr/>
            </a:lvl1pPr>
          </a:lstStyle>
          <a:p>
            <a:r>
              <a:rPr lang="ru-RU" dirty="0"/>
              <a:t>Заголовок раздела</a:t>
            </a:r>
          </a:p>
        </p:txBody>
      </p:sp>
    </p:spTree>
    <p:extLst>
      <p:ext uri="{BB962C8B-B14F-4D97-AF65-F5344CB8AC3E}">
        <p14:creationId xmlns:p14="http://schemas.microsoft.com/office/powerpoint/2010/main" val="3709041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13.03.2026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731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ольшой объект без подпис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13.03.2026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2F1516E-6014-D757-CCDF-87800827F01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5"/>
            <a:ext cx="8474076" cy="520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</p:spTree>
    <p:extLst>
      <p:ext uri="{BB962C8B-B14F-4D97-AF65-F5344CB8AC3E}">
        <p14:creationId xmlns:p14="http://schemas.microsoft.com/office/powerpoint/2010/main" val="40661740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больших вертикальных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13.03.2026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2F1516E-6014-D757-CCDF-87800827F01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5"/>
            <a:ext cx="4048217" cy="520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B5EAA507-A5C0-CCF7-7A6D-5C6E3F49065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760822" y="932154"/>
            <a:ext cx="4048217" cy="520194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</p:spTree>
    <p:extLst>
      <p:ext uri="{BB962C8B-B14F-4D97-AF65-F5344CB8AC3E}">
        <p14:creationId xmlns:p14="http://schemas.microsoft.com/office/powerpoint/2010/main" val="398331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ольшой объект с малой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13.03.2026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2F1516E-6014-D757-CCDF-87800827F01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5"/>
            <a:ext cx="8474076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3E4BF46-B457-6A7B-74B6-F8ACE48B7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5925845"/>
            <a:ext cx="8474058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</p:spTree>
    <p:extLst>
      <p:ext uri="{BB962C8B-B14F-4D97-AF65-F5344CB8AC3E}">
        <p14:creationId xmlns:p14="http://schemas.microsoft.com/office/powerpoint/2010/main" val="1785664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Два больших объекта с малой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13.03.2026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3E4BF46-B457-6A7B-74B6-F8ACE48B7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5925845"/>
            <a:ext cx="8474058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Общее описание объектов</a:t>
            </a:r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F530B7E2-6954-C41F-05DA-601408457D0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6"/>
            <a:ext cx="4048217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9FBD03D3-71BB-5CDD-2A54-30BBB118ED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60822" y="932155"/>
            <a:ext cx="4048217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</p:spTree>
    <p:extLst>
      <p:ext uri="{BB962C8B-B14F-4D97-AF65-F5344CB8AC3E}">
        <p14:creationId xmlns:p14="http://schemas.microsoft.com/office/powerpoint/2010/main" val="28775421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Два больших объекта с малыми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13.03.2026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3E4BF46-B457-6A7B-74B6-F8ACE48B7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5925845"/>
            <a:ext cx="4048216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F530B7E2-6954-C41F-05DA-601408457D0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6"/>
            <a:ext cx="4048217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9FBD03D3-71BB-5CDD-2A54-30BBB118ED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60822" y="932155"/>
            <a:ext cx="4048217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6AF70813-CC16-BD4C-B35D-A2DF9A27ED6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60822" y="5925845"/>
            <a:ext cx="4048216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</p:spTree>
    <p:extLst>
      <p:ext uri="{BB962C8B-B14F-4D97-AF65-F5344CB8AC3E}">
        <p14:creationId xmlns:p14="http://schemas.microsoft.com/office/powerpoint/2010/main" val="2285030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Четыре больших объекта с малыми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13.03.2026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3E4BF46-B457-6A7B-74B6-F8ACE48B7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2" y="3012142"/>
            <a:ext cx="4048216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F530B7E2-6954-C41F-05DA-601408457D0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6"/>
            <a:ext cx="4048217" cy="20771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9FBD03D3-71BB-5CDD-2A54-30BBB118ED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60822" y="932155"/>
            <a:ext cx="4048217" cy="20771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6" name="Текст 6">
            <a:extLst>
              <a:ext uri="{FF2B5EF4-FFF2-40B4-BE49-F238E27FC236}">
                <a16:creationId xmlns:a16="http://schemas.microsoft.com/office/drawing/2014/main" id="{6AF70813-CC16-BD4C-B35D-A2DF9A27ED6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60822" y="3009260"/>
            <a:ext cx="4048216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  <p:sp>
        <p:nvSpPr>
          <p:cNvPr id="9" name="Текст 6">
            <a:extLst>
              <a:ext uri="{FF2B5EF4-FFF2-40B4-BE49-F238E27FC236}">
                <a16:creationId xmlns:a16="http://schemas.microsoft.com/office/drawing/2014/main" id="{02FB4B37-9085-46CB-53B2-2742AFC67A4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2" y="5683958"/>
            <a:ext cx="4048216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  <p:sp>
        <p:nvSpPr>
          <p:cNvPr id="10" name="Объект 5">
            <a:extLst>
              <a:ext uri="{FF2B5EF4-FFF2-40B4-BE49-F238E27FC236}">
                <a16:creationId xmlns:a16="http://schemas.microsoft.com/office/drawing/2014/main" id="{2B45CD4C-4193-0D96-F6C2-28C22F31134E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334963" y="3603972"/>
            <a:ext cx="4048217" cy="20771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11" name="Объект 5">
            <a:extLst>
              <a:ext uri="{FF2B5EF4-FFF2-40B4-BE49-F238E27FC236}">
                <a16:creationId xmlns:a16="http://schemas.microsoft.com/office/drawing/2014/main" id="{AA37682D-1483-1C53-BBFE-4F1AB77001A4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60822" y="3603971"/>
            <a:ext cx="4048217" cy="20771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12" name="Текст 6">
            <a:extLst>
              <a:ext uri="{FF2B5EF4-FFF2-40B4-BE49-F238E27FC236}">
                <a16:creationId xmlns:a16="http://schemas.microsoft.com/office/drawing/2014/main" id="{8C6741EA-283C-2549-5F75-2B1CA8F9E5C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760822" y="5681076"/>
            <a:ext cx="4048216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</p:spTree>
    <p:extLst>
      <p:ext uri="{BB962C8B-B14F-4D97-AF65-F5344CB8AC3E}">
        <p14:creationId xmlns:p14="http://schemas.microsoft.com/office/powerpoint/2010/main" val="897045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Большой объект с увеличенной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13.03.2026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2F1516E-6014-D757-CCDF-87800827F01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963" y="932155"/>
            <a:ext cx="8474076" cy="42168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3E4BF46-B457-6A7B-74B6-F8ACE48B7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5149049"/>
            <a:ext cx="8474058" cy="10215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объекта</a:t>
            </a:r>
          </a:p>
        </p:txBody>
      </p:sp>
    </p:spTree>
    <p:extLst>
      <p:ext uri="{BB962C8B-B14F-4D97-AF65-F5344CB8AC3E}">
        <p14:creationId xmlns:p14="http://schemas.microsoft.com/office/powerpoint/2010/main" val="33253753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роблематика вопрос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13.03.2026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F530B7E2-6954-C41F-05DA-601408457D0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4126" y="2406388"/>
            <a:ext cx="3649054" cy="3519457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9FBD03D3-71BB-5CDD-2A54-30BBB118ED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60822" y="2406388"/>
            <a:ext cx="3644767" cy="35194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B6AB14C2-3B9B-E65A-27BE-10875AB2C2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0" y="932155"/>
            <a:ext cx="8474061" cy="6747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ru-RU" dirty="0"/>
              <a:t>Вспомогательное определение или пояснение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B0C9DE80-AB6D-6CE5-B7EF-349A32D160B7}"/>
              </a:ext>
            </a:extLst>
          </p:cNvPr>
          <p:cNvSpPr/>
          <p:nvPr/>
        </p:nvSpPr>
        <p:spPr>
          <a:xfrm>
            <a:off x="738411" y="1758795"/>
            <a:ext cx="3649054" cy="495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3670CF87-A11D-B45C-E73D-C501E41427E5}"/>
              </a:ext>
            </a:extLst>
          </p:cNvPr>
          <p:cNvSpPr/>
          <p:nvPr/>
        </p:nvSpPr>
        <p:spPr>
          <a:xfrm>
            <a:off x="4756535" y="1758795"/>
            <a:ext cx="3649054" cy="4956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E3447064-7B5D-A991-6E9B-5CCC95A4B0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4302" y="1829263"/>
            <a:ext cx="3510523" cy="3519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Заголовок колонки</a:t>
            </a:r>
          </a:p>
        </p:txBody>
      </p:sp>
      <p:sp>
        <p:nvSpPr>
          <p:cNvPr id="21" name="Текст 19">
            <a:extLst>
              <a:ext uri="{FF2B5EF4-FFF2-40B4-BE49-F238E27FC236}">
                <a16:creationId xmlns:a16="http://schemas.microsoft.com/office/drawing/2014/main" id="{0474384D-7AB2-0BF1-DC5B-EAE531126BF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25800" y="1829263"/>
            <a:ext cx="3510524" cy="3519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Заголовок колонки</a:t>
            </a:r>
          </a:p>
        </p:txBody>
      </p:sp>
    </p:spTree>
    <p:extLst>
      <p:ext uri="{BB962C8B-B14F-4D97-AF65-F5344CB8AC3E}">
        <p14:creationId xmlns:p14="http://schemas.microsoft.com/office/powerpoint/2010/main" val="28315980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роблематика вопроса с 1 заключение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13.03.2026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F530B7E2-6954-C41F-05DA-601408457D0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4126" y="2406388"/>
            <a:ext cx="3649054" cy="28296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9FBD03D3-71BB-5CDD-2A54-30BBB118ED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60822" y="2406388"/>
            <a:ext cx="3644767" cy="28296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B6AB14C2-3B9B-E65A-27BE-10875AB2C2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0" y="932155"/>
            <a:ext cx="8474061" cy="6747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ru-RU" dirty="0"/>
              <a:t>Вспомогательное определение или пояснение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B0C9DE80-AB6D-6CE5-B7EF-349A32D160B7}"/>
              </a:ext>
            </a:extLst>
          </p:cNvPr>
          <p:cNvSpPr/>
          <p:nvPr/>
        </p:nvSpPr>
        <p:spPr>
          <a:xfrm>
            <a:off x="738411" y="1758795"/>
            <a:ext cx="3649054" cy="495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3670CF87-A11D-B45C-E73D-C501E41427E5}"/>
              </a:ext>
            </a:extLst>
          </p:cNvPr>
          <p:cNvSpPr/>
          <p:nvPr/>
        </p:nvSpPr>
        <p:spPr>
          <a:xfrm>
            <a:off x="4756535" y="1758795"/>
            <a:ext cx="3649054" cy="4956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FDBB2043-A339-D4EA-AF0B-ABEC9E3349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451591"/>
              </p:ext>
            </p:extLst>
          </p:nvPr>
        </p:nvGraphicFramePr>
        <p:xfrm>
          <a:off x="334960" y="5425361"/>
          <a:ext cx="8474060" cy="74168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8474060">
                  <a:extLst>
                    <a:ext uri="{9D8B030D-6E8A-4147-A177-3AD203B41FA5}">
                      <a16:colId xmlns:a16="http://schemas.microsoft.com/office/drawing/2014/main" val="607788296"/>
                    </a:ext>
                  </a:extLst>
                </a:gridCol>
              </a:tblGrid>
              <a:tr h="74168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65977"/>
                  </a:ext>
                </a:extLst>
              </a:tr>
            </a:tbl>
          </a:graphicData>
        </a:graphic>
      </p:graphicFrame>
      <p:sp>
        <p:nvSpPr>
          <p:cNvPr id="17" name="Текст 19">
            <a:extLst>
              <a:ext uri="{FF2B5EF4-FFF2-40B4-BE49-F238E27FC236}">
                <a16:creationId xmlns:a16="http://schemas.microsoft.com/office/drawing/2014/main" id="{7BB5A045-BE61-2446-2937-0EC04ECE10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4302" y="1829263"/>
            <a:ext cx="3510523" cy="3519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Заголовок колонки</a:t>
            </a:r>
          </a:p>
        </p:txBody>
      </p:sp>
      <p:sp>
        <p:nvSpPr>
          <p:cNvPr id="18" name="Текст 19">
            <a:extLst>
              <a:ext uri="{FF2B5EF4-FFF2-40B4-BE49-F238E27FC236}">
                <a16:creationId xmlns:a16="http://schemas.microsoft.com/office/drawing/2014/main" id="{DB3D32DB-80F0-B97C-FE30-893F955642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25800" y="1829263"/>
            <a:ext cx="3510524" cy="3519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Заголовок колонки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6C5D8ED6-A851-F284-5AF5-591F5B1366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3" y="5426075"/>
            <a:ext cx="8474075" cy="7413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737778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роблематика вопроса с 2 заключени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13.03.2026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5" name="Объект 5">
            <a:extLst>
              <a:ext uri="{FF2B5EF4-FFF2-40B4-BE49-F238E27FC236}">
                <a16:creationId xmlns:a16="http://schemas.microsoft.com/office/drawing/2014/main" id="{F530B7E2-6954-C41F-05DA-601408457D0C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34126" y="2406388"/>
            <a:ext cx="3649054" cy="28296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8" name="Объект 5">
            <a:extLst>
              <a:ext uri="{FF2B5EF4-FFF2-40B4-BE49-F238E27FC236}">
                <a16:creationId xmlns:a16="http://schemas.microsoft.com/office/drawing/2014/main" id="{9FBD03D3-71BB-5CDD-2A54-30BBB118ED2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760822" y="2406388"/>
            <a:ext cx="3644767" cy="28296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Объект или текст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B6AB14C2-3B9B-E65A-27BE-10875AB2C23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4960" y="932155"/>
            <a:ext cx="8474061" cy="6747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ru-RU" dirty="0"/>
              <a:t>Вспомогательное определение или пояснение</a:t>
            </a: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B0C9DE80-AB6D-6CE5-B7EF-349A32D160B7}"/>
              </a:ext>
            </a:extLst>
          </p:cNvPr>
          <p:cNvSpPr/>
          <p:nvPr/>
        </p:nvSpPr>
        <p:spPr>
          <a:xfrm>
            <a:off x="738411" y="1758795"/>
            <a:ext cx="3649054" cy="49565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sp>
        <p:nvSpPr>
          <p:cNvPr id="14" name="Rectangle 6">
            <a:extLst>
              <a:ext uri="{FF2B5EF4-FFF2-40B4-BE49-F238E27FC236}">
                <a16:creationId xmlns:a16="http://schemas.microsoft.com/office/drawing/2014/main" id="{3670CF87-A11D-B45C-E73D-C501E41427E5}"/>
              </a:ext>
            </a:extLst>
          </p:cNvPr>
          <p:cNvSpPr/>
          <p:nvPr/>
        </p:nvSpPr>
        <p:spPr>
          <a:xfrm>
            <a:off x="4756535" y="1758795"/>
            <a:ext cx="3649054" cy="4956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ru-RU" dirty="0"/>
          </a:p>
        </p:txBody>
      </p:sp>
      <p:graphicFrame>
        <p:nvGraphicFramePr>
          <p:cNvPr id="6" name="Таблица 6">
            <a:extLst>
              <a:ext uri="{FF2B5EF4-FFF2-40B4-BE49-F238E27FC236}">
                <a16:creationId xmlns:a16="http://schemas.microsoft.com/office/drawing/2014/main" id="{FDBB2043-A339-D4EA-AF0B-ABEC9E3349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5245377"/>
              </p:ext>
            </p:extLst>
          </p:nvPr>
        </p:nvGraphicFramePr>
        <p:xfrm>
          <a:off x="334960" y="5425361"/>
          <a:ext cx="8474060" cy="741680"/>
        </p:xfrm>
        <a:graphic>
          <a:graphicData uri="http://schemas.openxmlformats.org/drawingml/2006/table">
            <a:tbl>
              <a:tblPr>
                <a:tableStyleId>{21E4AEA4-8DFA-4A89-87EB-49C32662AFE0}</a:tableStyleId>
              </a:tblPr>
              <a:tblGrid>
                <a:gridCol w="8474060">
                  <a:extLst>
                    <a:ext uri="{9D8B030D-6E8A-4147-A177-3AD203B41FA5}">
                      <a16:colId xmlns:a16="http://schemas.microsoft.com/office/drawing/2014/main" val="6077882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565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020003"/>
                  </a:ext>
                </a:extLst>
              </a:tr>
            </a:tbl>
          </a:graphicData>
        </a:graphic>
      </p:graphicFrame>
      <p:sp>
        <p:nvSpPr>
          <p:cNvPr id="17" name="Текст 19">
            <a:extLst>
              <a:ext uri="{FF2B5EF4-FFF2-40B4-BE49-F238E27FC236}">
                <a16:creationId xmlns:a16="http://schemas.microsoft.com/office/drawing/2014/main" id="{7BB5A045-BE61-2446-2937-0EC04ECE10E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4302" y="1829263"/>
            <a:ext cx="3510523" cy="3519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Заголовок колонки</a:t>
            </a:r>
          </a:p>
        </p:txBody>
      </p:sp>
      <p:sp>
        <p:nvSpPr>
          <p:cNvPr id="18" name="Текст 19">
            <a:extLst>
              <a:ext uri="{FF2B5EF4-FFF2-40B4-BE49-F238E27FC236}">
                <a16:creationId xmlns:a16="http://schemas.microsoft.com/office/drawing/2014/main" id="{DB3D32DB-80F0-B97C-FE30-893F9556424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25800" y="1829263"/>
            <a:ext cx="3510524" cy="3519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Заголовок колонки</a:t>
            </a:r>
          </a:p>
        </p:txBody>
      </p:sp>
      <p:sp>
        <p:nvSpPr>
          <p:cNvPr id="19" name="Текст 8">
            <a:extLst>
              <a:ext uri="{FF2B5EF4-FFF2-40B4-BE49-F238E27FC236}">
                <a16:creationId xmlns:a16="http://schemas.microsoft.com/office/drawing/2014/main" id="{CE5C7308-439B-D698-C660-406EC02B5B4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963" y="5426076"/>
            <a:ext cx="8474075" cy="36512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Заключение 1</a:t>
            </a:r>
          </a:p>
        </p:txBody>
      </p:sp>
      <p:sp>
        <p:nvSpPr>
          <p:cNvPr id="20" name="Текст 8">
            <a:extLst>
              <a:ext uri="{FF2B5EF4-FFF2-40B4-BE49-F238E27FC236}">
                <a16:creationId xmlns:a16="http://schemas.microsoft.com/office/drawing/2014/main" id="{C1ABE563-3AA3-1069-4FCB-164A97DA6D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34960" y="5791202"/>
            <a:ext cx="8474075" cy="365126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/>
            </a:lvl1pPr>
          </a:lstStyle>
          <a:p>
            <a:pPr lvl="0"/>
            <a:r>
              <a:rPr lang="ru-RU" dirty="0"/>
              <a:t>Заключение 2</a:t>
            </a:r>
          </a:p>
        </p:txBody>
      </p:sp>
    </p:spTree>
    <p:extLst>
      <p:ext uri="{BB962C8B-B14F-4D97-AF65-F5344CB8AC3E}">
        <p14:creationId xmlns:p14="http://schemas.microsoft.com/office/powerpoint/2010/main" val="18692193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аблица с 4 колонками разного цве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9FFE57-88F3-1D88-1E59-B27B0D9E9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726" y="149313"/>
            <a:ext cx="8262129" cy="33724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600" b="1" cap="all" baseline="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5D344B2-3E20-9BF7-2513-68D8E523A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872C5-B9F9-47C1-8D1E-71FB2224D267}" type="datetime1">
              <a:rPr lang="ru-RU" smtClean="0"/>
              <a:t>13.03.2026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49410B-4AFD-0F55-B80B-C0C64B808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16" name="Номер слайда 16">
            <a:extLst>
              <a:ext uri="{FF2B5EF4-FFF2-40B4-BE49-F238E27FC236}">
                <a16:creationId xmlns:a16="http://schemas.microsoft.com/office/drawing/2014/main" id="{F35A7DE0-577D-81FA-244E-045B1F31A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1621" y="6356350"/>
            <a:ext cx="2057400" cy="365125"/>
          </a:xfrm>
        </p:spPr>
        <p:txBody>
          <a:bodyPr/>
          <a:lstStyle/>
          <a:p>
            <a:fld id="{33DB75D3-EE43-4A2B-B1E4-8F2FFD828A0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3E4BF46-B457-6A7B-74B6-F8ACE48B75F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34963" y="5925845"/>
            <a:ext cx="8474058" cy="2447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ru-RU" dirty="0"/>
              <a:t>Описание таблицы</a:t>
            </a:r>
          </a:p>
        </p:txBody>
      </p:sp>
      <p:sp>
        <p:nvSpPr>
          <p:cNvPr id="8" name="Таблица 7">
            <a:extLst>
              <a:ext uri="{FF2B5EF4-FFF2-40B4-BE49-F238E27FC236}">
                <a16:creationId xmlns:a16="http://schemas.microsoft.com/office/drawing/2014/main" id="{34B1A4FE-B536-E0F9-61DF-882D104CEC19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6704004" y="924610"/>
            <a:ext cx="2105017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Колонка 4</a:t>
            </a:r>
          </a:p>
        </p:txBody>
      </p:sp>
      <p:sp>
        <p:nvSpPr>
          <p:cNvPr id="9" name="Таблица 7">
            <a:extLst>
              <a:ext uri="{FF2B5EF4-FFF2-40B4-BE49-F238E27FC236}">
                <a16:creationId xmlns:a16="http://schemas.microsoft.com/office/drawing/2014/main" id="{DC67AC0E-B2D8-FF2A-D7CB-759DD10FB555}"/>
              </a:ext>
            </a:extLst>
          </p:cNvPr>
          <p:cNvSpPr>
            <a:spLocks noGrp="1"/>
          </p:cNvSpPr>
          <p:nvPr>
            <p:ph type="tbl" sz="quarter" idx="16" hasCustomPrompt="1"/>
          </p:nvPr>
        </p:nvSpPr>
        <p:spPr>
          <a:xfrm>
            <a:off x="4571992" y="924610"/>
            <a:ext cx="2132012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Колонка 3</a:t>
            </a:r>
          </a:p>
        </p:txBody>
      </p:sp>
      <p:sp>
        <p:nvSpPr>
          <p:cNvPr id="10" name="Таблица 7">
            <a:extLst>
              <a:ext uri="{FF2B5EF4-FFF2-40B4-BE49-F238E27FC236}">
                <a16:creationId xmlns:a16="http://schemas.microsoft.com/office/drawing/2014/main" id="{410536BE-5206-0FBD-B36C-75305260A5A7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2466975" y="924610"/>
            <a:ext cx="2105017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Колонка 2</a:t>
            </a:r>
          </a:p>
        </p:txBody>
      </p:sp>
      <p:sp>
        <p:nvSpPr>
          <p:cNvPr id="11" name="Таблица 7">
            <a:extLst>
              <a:ext uri="{FF2B5EF4-FFF2-40B4-BE49-F238E27FC236}">
                <a16:creationId xmlns:a16="http://schemas.microsoft.com/office/drawing/2014/main" id="{BE4D96F0-0691-DBFC-88C4-DEC53EB44D5B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334963" y="924610"/>
            <a:ext cx="2132012" cy="499369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r>
              <a:rPr lang="ru-RU" dirty="0"/>
              <a:t>Колонка 1</a:t>
            </a:r>
          </a:p>
        </p:txBody>
      </p:sp>
    </p:spTree>
    <p:extLst>
      <p:ext uri="{BB962C8B-B14F-4D97-AF65-F5344CB8AC3E}">
        <p14:creationId xmlns:p14="http://schemas.microsoft.com/office/powerpoint/2010/main" val="3764310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34979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E00CFD-2F7C-41E9-890A-B2E9A2C15AD6}" type="datetime1">
              <a:rPr lang="ru-RU" smtClean="0"/>
              <a:t>13.03.2026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47891" y="6356351"/>
            <a:ext cx="4048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51621" y="6356349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&lt;#&gt;</a:t>
            </a:r>
            <a:endParaRPr lang="ru-RU" dirty="0"/>
          </a:p>
        </p:txBody>
      </p:sp>
      <p:grpSp>
        <p:nvGrpSpPr>
          <p:cNvPr id="7" name="object 3">
            <a:extLst>
              <a:ext uri="{FF2B5EF4-FFF2-40B4-BE49-F238E27FC236}">
                <a16:creationId xmlns:a16="http://schemas.microsoft.com/office/drawing/2014/main" id="{F8A58065-522B-35AD-B07A-0024CDA9E855}"/>
              </a:ext>
            </a:extLst>
          </p:cNvPr>
          <p:cNvGrpSpPr/>
          <p:nvPr/>
        </p:nvGrpSpPr>
        <p:grpSpPr>
          <a:xfrm>
            <a:off x="0" y="-1"/>
            <a:ext cx="9143804" cy="671119"/>
            <a:chOff x="-530" y="12"/>
            <a:chExt cx="7561580" cy="554990"/>
          </a:xfrm>
        </p:grpSpPr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A8862889-5E18-A23B-40A6-A9301FC66181}"/>
                </a:ext>
              </a:extLst>
            </p:cNvPr>
            <p:cNvSpPr/>
            <p:nvPr/>
          </p:nvSpPr>
          <p:spPr>
            <a:xfrm>
              <a:off x="0" y="12"/>
              <a:ext cx="553720" cy="554355"/>
            </a:xfrm>
            <a:custGeom>
              <a:avLst/>
              <a:gdLst/>
              <a:ahLst/>
              <a:cxnLst/>
              <a:rect l="l" t="t" r="r" b="b"/>
              <a:pathLst>
                <a:path w="553720" h="554355">
                  <a:moveTo>
                    <a:pt x="553643" y="0"/>
                  </a:moveTo>
                  <a:lnTo>
                    <a:pt x="0" y="0"/>
                  </a:lnTo>
                  <a:lnTo>
                    <a:pt x="0" y="554316"/>
                  </a:lnTo>
                  <a:lnTo>
                    <a:pt x="553643" y="554316"/>
                  </a:lnTo>
                  <a:lnTo>
                    <a:pt x="553643" y="0"/>
                  </a:lnTo>
                  <a:close/>
                </a:path>
              </a:pathLst>
            </a:custGeom>
            <a:solidFill>
              <a:srgbClr val="05336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5">
              <a:extLst>
                <a:ext uri="{FF2B5EF4-FFF2-40B4-BE49-F238E27FC236}">
                  <a16:creationId xmlns:a16="http://schemas.microsoft.com/office/drawing/2014/main" id="{14BC4447-673D-5860-F426-3C9E799A7E68}"/>
                </a:ext>
              </a:extLst>
            </p:cNvPr>
            <p:cNvSpPr/>
            <p:nvPr/>
          </p:nvSpPr>
          <p:spPr>
            <a:xfrm>
              <a:off x="-530" y="552737"/>
              <a:ext cx="7561580" cy="0"/>
            </a:xfrm>
            <a:custGeom>
              <a:avLst/>
              <a:gdLst/>
              <a:ahLst/>
              <a:cxnLst/>
              <a:rect l="l" t="t" r="r" b="b"/>
              <a:pathLst>
                <a:path w="7561580">
                  <a:moveTo>
                    <a:pt x="0" y="0"/>
                  </a:moveTo>
                  <a:lnTo>
                    <a:pt x="7561211" y="0"/>
                  </a:lnTo>
                </a:path>
              </a:pathLst>
            </a:custGeom>
            <a:ln w="3810">
              <a:solidFill>
                <a:srgbClr val="05336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37629104-D3D5-45AA-5B55-A7BD2D9EF09A}"/>
                </a:ext>
              </a:extLst>
            </p:cNvPr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87247" y="87630"/>
              <a:ext cx="378477" cy="37886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304262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2" r:id="rId2"/>
    <p:sldLayoutId id="2147483652" r:id="rId3"/>
    <p:sldLayoutId id="2147483653" r:id="rId4"/>
    <p:sldLayoutId id="2147483656" r:id="rId5"/>
    <p:sldLayoutId id="2147483654" r:id="rId6"/>
    <p:sldLayoutId id="2147483657" r:id="rId7"/>
    <p:sldLayoutId id="2147483659" r:id="rId8"/>
    <p:sldLayoutId id="2147483663" r:id="rId9"/>
    <p:sldLayoutId id="2147483655" r:id="rId10"/>
    <p:sldLayoutId id="2147483658" r:id="rId11"/>
    <p:sldLayoutId id="2147483661" r:id="rId12"/>
    <p:sldLayoutId id="2147483660" r:id="rId13"/>
    <p:sldLayoutId id="214748366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kaggle.com/datasets/crawford/deepsat-sat4?resource=download" TargetMode="Externa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>
            <a:extLst>
              <a:ext uri="{FF2B5EF4-FFF2-40B4-BE49-F238E27FC236}">
                <a16:creationId xmlns:a16="http://schemas.microsoft.com/office/drawing/2014/main" id="{CEE0C4C6-D337-497C-83B2-BE8256EB71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Михайлов </a:t>
            </a:r>
            <a:r>
              <a:rPr lang="ru-RU" dirty="0" err="1"/>
              <a:t>н.ф</a:t>
            </a:r>
            <a:r>
              <a:rPr lang="ru-RU" dirty="0"/>
              <a:t>., Дегтярева </a:t>
            </a:r>
            <a:r>
              <a:rPr lang="ru-RU" dirty="0" err="1"/>
              <a:t>м.и</a:t>
            </a:r>
            <a:r>
              <a:rPr lang="ru-RU" dirty="0"/>
              <a:t>. </a:t>
            </a:r>
            <a:br>
              <a:rPr lang="ru-RU" dirty="0"/>
            </a:br>
            <a:r>
              <a:rPr lang="ru-RU" dirty="0"/>
              <a:t>Группа 3376</a:t>
            </a: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40D48B7B-2660-4F32-8121-6374F61578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057744"/>
            <a:ext cx="7433170" cy="1325563"/>
          </a:xfrm>
        </p:spPr>
        <p:txBody>
          <a:bodyPr>
            <a:normAutofit/>
          </a:bodyPr>
          <a:lstStyle/>
          <a:p>
            <a:r>
              <a:rPr lang="ru-RU" dirty="0"/>
              <a:t>Доклад №1</a:t>
            </a:r>
            <a:br>
              <a:rPr lang="ru-RU" dirty="0"/>
            </a:br>
            <a:r>
              <a:rPr lang="ru-RU" sz="2900" dirty="0"/>
              <a:t>по дисциплине большие данные</a:t>
            </a:r>
          </a:p>
        </p:txBody>
      </p:sp>
    </p:spTree>
    <p:extLst>
      <p:ext uri="{BB962C8B-B14F-4D97-AF65-F5344CB8AC3E}">
        <p14:creationId xmlns:p14="http://schemas.microsoft.com/office/powerpoint/2010/main" val="2942576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9FA2A8-356D-4416-93F5-FA94F7967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1800" dirty="0"/>
              <a:t>Набор данных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F628A0B-43CB-4845-8E38-0121928C8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2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C9B4C-66B4-4DB5-B739-9B4FB5AB557C}"/>
              </a:ext>
            </a:extLst>
          </p:cNvPr>
          <p:cNvSpPr txBox="1"/>
          <p:nvPr/>
        </p:nvSpPr>
        <p:spPr>
          <a:xfrm>
            <a:off x="572293" y="1026984"/>
            <a:ext cx="4576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Источник данных: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47683A-0CAC-4144-8B34-759782C0F7EB}"/>
              </a:ext>
            </a:extLst>
          </p:cNvPr>
          <p:cNvSpPr txBox="1"/>
          <p:nvPr/>
        </p:nvSpPr>
        <p:spPr>
          <a:xfrm>
            <a:off x="572293" y="1524561"/>
            <a:ext cx="80332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Платформа </a:t>
            </a:r>
            <a:r>
              <a:rPr lang="en-US" dirty="0"/>
              <a:t>Kaggle:</a:t>
            </a:r>
            <a:br>
              <a:rPr lang="ru-RU" dirty="0"/>
            </a:br>
            <a:r>
              <a:rPr lang="en-US" dirty="0">
                <a:hlinkClick r:id="rId2"/>
              </a:rPr>
              <a:t>https://www.kaggle.com/datasets/crawford/deepsat-sat4?resource=download</a:t>
            </a:r>
            <a:br>
              <a:rPr lang="en-US" dirty="0"/>
            </a:br>
            <a:r>
              <a:rPr lang="en-US" b="1" dirty="0"/>
              <a:t>DeepSat (SAT-4) Airborne Dataset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07E9EA-3264-4A51-A5A7-796E1B9E82CD}"/>
              </a:ext>
            </a:extLst>
          </p:cNvPr>
          <p:cNvSpPr txBox="1"/>
          <p:nvPr/>
        </p:nvSpPr>
        <p:spPr>
          <a:xfrm>
            <a:off x="572293" y="2656515"/>
            <a:ext cx="59040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Оригинальные изображения предоставлены:</a:t>
            </a:r>
            <a:br>
              <a:rPr lang="ru-RU" dirty="0"/>
            </a:br>
            <a:r>
              <a:rPr lang="en-US" dirty="0"/>
              <a:t>National Agriculture Imagery Program (NAIP) dataset</a:t>
            </a:r>
            <a:endParaRPr lang="ru-RU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F29A263-2FE2-427B-B524-2BF10DB6E5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512"/>
          <a:stretch/>
        </p:blipFill>
        <p:spPr>
          <a:xfrm>
            <a:off x="5140081" y="3511470"/>
            <a:ext cx="3668940" cy="272800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D55C245-09B2-47BB-A470-A9482F729AD2}"/>
              </a:ext>
            </a:extLst>
          </p:cNvPr>
          <p:cNvSpPr txBox="1"/>
          <p:nvPr/>
        </p:nvSpPr>
        <p:spPr>
          <a:xfrm>
            <a:off x="5436647" y="6202461"/>
            <a:ext cx="33723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Примеры изображений в </a:t>
            </a:r>
            <a:r>
              <a:rPr lang="ru-RU" sz="1400" dirty="0" err="1"/>
              <a:t>датасете</a:t>
            </a:r>
            <a:endParaRPr lang="ru-RU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C1485F4-916F-4050-A5CF-256D9D90CF97}"/>
              </a:ext>
            </a:extLst>
          </p:cNvPr>
          <p:cNvSpPr txBox="1"/>
          <p:nvPr/>
        </p:nvSpPr>
        <p:spPr>
          <a:xfrm>
            <a:off x="572293" y="3511470"/>
            <a:ext cx="457619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Использование: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Обучение нейронных сетей для распознавания изображений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Анализ данных по цветовым линиям (</a:t>
            </a:r>
            <a:r>
              <a:rPr lang="en-US" dirty="0"/>
              <a:t>RGB, NIR)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57321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D2F324-0E0E-499C-8EED-A588A2E4E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1800" dirty="0"/>
              <a:t>Решаемая задача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F059487-E861-4148-868F-B894C5907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3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76E2B4-E71C-4E3F-A0B8-733A788C8381}"/>
              </a:ext>
            </a:extLst>
          </p:cNvPr>
          <p:cNvSpPr txBox="1"/>
          <p:nvPr/>
        </p:nvSpPr>
        <p:spPr>
          <a:xfrm>
            <a:off x="641501" y="1406064"/>
            <a:ext cx="7277705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/>
              <a:t>Целевая задача:</a:t>
            </a:r>
          </a:p>
          <a:p>
            <a:r>
              <a:rPr lang="ru-RU" dirty="0"/>
              <a:t>Оценить вклад различных каналов в классификацию объектов</a:t>
            </a:r>
          </a:p>
          <a:p>
            <a:endParaRPr lang="ru-RU" dirty="0"/>
          </a:p>
          <a:p>
            <a:br>
              <a:rPr lang="ru-RU" dirty="0"/>
            </a:br>
            <a:r>
              <a:rPr lang="ru-RU" dirty="0"/>
              <a:t>Описание:</a:t>
            </a:r>
          </a:p>
          <a:p>
            <a:r>
              <a:rPr lang="ru-RU" dirty="0" err="1"/>
              <a:t>Кластеризовать</a:t>
            </a:r>
            <a:r>
              <a:rPr lang="ru-RU" dirty="0"/>
              <a:t> данные с каналами по-отдельности, с </a:t>
            </a:r>
            <a:r>
              <a:rPr lang="en-US" dirty="0"/>
              <a:t>RGB</a:t>
            </a:r>
            <a:r>
              <a:rPr lang="ru-RU" dirty="0"/>
              <a:t>-каналами</a:t>
            </a:r>
            <a:r>
              <a:rPr lang="en-US" dirty="0"/>
              <a:t>, </a:t>
            </a:r>
            <a:r>
              <a:rPr lang="ru-RU" dirty="0"/>
              <a:t>с </a:t>
            </a:r>
            <a:r>
              <a:rPr lang="en-US" dirty="0"/>
              <a:t>RGB+NIR </a:t>
            </a:r>
            <a:r>
              <a:rPr lang="ru-RU" dirty="0"/>
              <a:t>каналами.</a:t>
            </a:r>
            <a:br>
              <a:rPr lang="ru-RU" dirty="0"/>
            </a:br>
            <a:r>
              <a:rPr lang="ru-RU" dirty="0"/>
              <a:t>Проанализировать полученные результаты.</a:t>
            </a:r>
          </a:p>
        </p:txBody>
      </p:sp>
    </p:spTree>
    <p:extLst>
      <p:ext uri="{BB962C8B-B14F-4D97-AF65-F5344CB8AC3E}">
        <p14:creationId xmlns:p14="http://schemas.microsoft.com/office/powerpoint/2010/main" val="15164546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016578-E64B-4C13-981C-E99460BC5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Датасет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9FDD65E-40E9-4907-9FBE-3AEDA3AB3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4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1F19D2-0C68-4CFF-BB11-B3B8A0F633B1}"/>
              </a:ext>
            </a:extLst>
          </p:cNvPr>
          <p:cNvSpPr txBox="1"/>
          <p:nvPr/>
        </p:nvSpPr>
        <p:spPr>
          <a:xfrm>
            <a:off x="271872" y="964595"/>
            <a:ext cx="7831893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Состав </a:t>
            </a:r>
            <a:r>
              <a:rPr lang="ru-RU" b="1" dirty="0" err="1"/>
              <a:t>датасета</a:t>
            </a:r>
            <a:r>
              <a:rPr lang="ru-RU" b="1" dirty="0"/>
              <a:t>: </a:t>
            </a:r>
            <a:endParaRPr lang="ru-RU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csv</a:t>
            </a:r>
            <a:r>
              <a:rPr lang="ru-RU" sz="1800" dirty="0"/>
              <a:t> файлы содержащие изображения 28х28рх разбитые по 4 каналам</a:t>
            </a:r>
            <a:br>
              <a:rPr lang="ru-RU" sz="1800" dirty="0"/>
            </a:br>
            <a:r>
              <a:rPr lang="ru-RU" sz="1800" dirty="0"/>
              <a:t>количество атрибутов: 3136</a:t>
            </a:r>
            <a:br>
              <a:rPr lang="ru-RU" sz="1800" dirty="0"/>
            </a:br>
            <a:r>
              <a:rPr lang="ru-RU" sz="1800" dirty="0"/>
              <a:t>тип атрибутов: целочисленный</a:t>
            </a:r>
            <a:br>
              <a:rPr lang="ru-RU" sz="1800" dirty="0"/>
            </a:br>
            <a:r>
              <a:rPr lang="ru-RU" sz="1800" dirty="0"/>
              <a:t>количество векторов: 400000 </a:t>
            </a:r>
            <a:r>
              <a:rPr lang="en-US" sz="1800" dirty="0"/>
              <a:t>| </a:t>
            </a:r>
            <a:r>
              <a:rPr lang="ru-RU" sz="1800" dirty="0"/>
              <a:t>100000</a:t>
            </a:r>
            <a:br>
              <a:rPr lang="ru-RU" sz="1800" dirty="0"/>
            </a:br>
            <a:endParaRPr lang="ru-RU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csv </a:t>
            </a:r>
            <a:r>
              <a:rPr lang="ru-RU" sz="1800" dirty="0"/>
              <a:t>файлы содержащие соответствие изображений классам</a:t>
            </a:r>
            <a:br>
              <a:rPr lang="ru-RU" sz="1800" dirty="0"/>
            </a:br>
            <a:r>
              <a:rPr lang="ru-RU" sz="1800" dirty="0"/>
              <a:t>количество атрибутов: 4</a:t>
            </a:r>
            <a:br>
              <a:rPr lang="ru-RU" sz="1800" dirty="0"/>
            </a:br>
            <a:r>
              <a:rPr lang="ru-RU" sz="1800" dirty="0"/>
              <a:t>тип атрибутов: целочисленный</a:t>
            </a:r>
            <a:br>
              <a:rPr lang="ru-RU" sz="1800" dirty="0"/>
            </a:br>
            <a:r>
              <a:rPr lang="ru-RU" sz="1800" dirty="0"/>
              <a:t>количество векторов: 400000 </a:t>
            </a:r>
            <a:r>
              <a:rPr lang="en-US" sz="1800" dirty="0"/>
              <a:t>| </a:t>
            </a:r>
            <a:r>
              <a:rPr lang="ru-RU" sz="1800" dirty="0"/>
              <a:t>100000</a:t>
            </a:r>
            <a:br>
              <a:rPr lang="ru-RU" sz="1800" dirty="0"/>
            </a:br>
            <a:endParaRPr lang="ru-RU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csv </a:t>
            </a:r>
            <a:r>
              <a:rPr lang="ru-RU" sz="1800" dirty="0"/>
              <a:t>файл с аннотацией к классам</a:t>
            </a:r>
            <a:br>
              <a:rPr lang="ru-RU" sz="1800" dirty="0"/>
            </a:br>
            <a:r>
              <a:rPr lang="ru-RU" sz="1800" dirty="0"/>
              <a:t>количество атрибутов: 5</a:t>
            </a:r>
            <a:br>
              <a:rPr lang="ru-RU" sz="1800" dirty="0"/>
            </a:br>
            <a:r>
              <a:rPr lang="ru-RU" sz="1800" dirty="0"/>
              <a:t>типы атрибутов: текстовый, целочисленный</a:t>
            </a:r>
            <a:br>
              <a:rPr lang="ru-RU" sz="1800" dirty="0"/>
            </a:br>
            <a:r>
              <a:rPr lang="ru-RU" sz="1800" dirty="0"/>
              <a:t>количество векторов: 4</a:t>
            </a:r>
            <a:br>
              <a:rPr lang="ru-RU" sz="1800" dirty="0"/>
            </a:br>
            <a:r>
              <a:rPr lang="ru-RU" sz="1800" dirty="0"/>
              <a:t>классы: </a:t>
            </a:r>
            <a:r>
              <a:rPr lang="en-US" sz="1800" dirty="0" err="1"/>
              <a:t>barren_land</a:t>
            </a:r>
            <a:r>
              <a:rPr lang="en-US" sz="1800" dirty="0"/>
              <a:t>, trees, grassland, none</a:t>
            </a:r>
            <a:br>
              <a:rPr lang="ru-RU" sz="1800" dirty="0"/>
            </a:br>
            <a:endParaRPr lang="ru-RU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MATLAB </a:t>
            </a:r>
            <a:r>
              <a:rPr lang="ru-RU" sz="1800" dirty="0"/>
              <a:t>файл с исходными данными </a:t>
            </a:r>
            <a:br>
              <a:rPr lang="ru-RU" sz="1800" dirty="0"/>
            </a:br>
            <a:r>
              <a:rPr lang="ru-RU" sz="1800" dirty="0"/>
              <a:t>(которые конвертировали в </a:t>
            </a:r>
            <a:r>
              <a:rPr lang="en-US" sz="1800" dirty="0"/>
              <a:t>csv)</a:t>
            </a:r>
            <a:br>
              <a:rPr lang="ru-RU" sz="1800" dirty="0"/>
            </a:br>
            <a:br>
              <a:rPr lang="en-US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57870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5CB880-CB26-4508-A64B-EB85B0546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Используемый алгоритм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04448C9-F099-4823-81CF-7FC9C4DB0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5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C3C87B-A66C-4D47-BBCA-A2CAD11D7623}"/>
              </a:ext>
            </a:extLst>
          </p:cNvPr>
          <p:cNvSpPr txBox="1"/>
          <p:nvPr/>
        </p:nvSpPr>
        <p:spPr>
          <a:xfrm>
            <a:off x="775726" y="1426020"/>
            <a:ext cx="4576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Основной алгоритм: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C0AECC-8462-404D-85C7-3CE4FA503211}"/>
              </a:ext>
            </a:extLst>
          </p:cNvPr>
          <p:cNvSpPr txBox="1"/>
          <p:nvPr/>
        </p:nvSpPr>
        <p:spPr>
          <a:xfrm>
            <a:off x="802734" y="1769576"/>
            <a:ext cx="65226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PCA</a:t>
            </a:r>
            <a:r>
              <a:rPr lang="ru-RU" dirty="0"/>
              <a:t> (</a:t>
            </a:r>
            <a:r>
              <a:rPr lang="en-US" dirty="0"/>
              <a:t>Principal Component Analysis</a:t>
            </a:r>
            <a:r>
              <a:rPr lang="ru-RU" dirty="0"/>
              <a:t>),  </a:t>
            </a:r>
            <a:r>
              <a:rPr lang="en-US" dirty="0" err="1"/>
              <a:t>MiniBatchKMeans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C44922-37C4-42C2-AA8F-81069401F01E}"/>
              </a:ext>
            </a:extLst>
          </p:cNvPr>
          <p:cNvSpPr txBox="1"/>
          <p:nvPr/>
        </p:nvSpPr>
        <p:spPr>
          <a:xfrm>
            <a:off x="802733" y="2550145"/>
            <a:ext cx="560645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IncrementalPCA</a:t>
            </a:r>
            <a:r>
              <a:rPr lang="ru-RU" dirty="0"/>
              <a:t> - Снижение размерности, сжатие до основных компонентов, ускорение кластеризации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MiniBatchKMeans</a:t>
            </a:r>
            <a:r>
              <a:rPr lang="en-US" dirty="0"/>
              <a:t> </a:t>
            </a:r>
            <a:r>
              <a:rPr lang="ru-RU" dirty="0"/>
              <a:t>- Кластеризация большого количества объектов</a:t>
            </a:r>
          </a:p>
        </p:txBody>
      </p:sp>
    </p:spTree>
    <p:extLst>
      <p:ext uri="{BB962C8B-B14F-4D97-AF65-F5344CB8AC3E}">
        <p14:creationId xmlns:p14="http://schemas.microsoft.com/office/powerpoint/2010/main" val="1491188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D826F3-4EA2-4005-B7D6-064C33A0F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Настройки / преобразование данных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262FF7D-F518-4E1D-8E81-12C810B93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6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A75B85-0C7C-44B2-A4FF-DE9347922E9E}"/>
              </a:ext>
            </a:extLst>
          </p:cNvPr>
          <p:cNvSpPr txBox="1"/>
          <p:nvPr/>
        </p:nvSpPr>
        <p:spPr>
          <a:xfrm>
            <a:off x="633112" y="5000610"/>
            <a:ext cx="631297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Преобразование данных:</a:t>
            </a:r>
            <a:br>
              <a:rPr lang="ru-RU" dirty="0"/>
            </a:b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Разделение цветовых каналов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Нормализация значений пикселей</a:t>
            </a:r>
            <a:br>
              <a:rPr lang="ru-RU" dirty="0"/>
            </a:b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F54271-98BB-4642-9D99-B9F11EA4732C}"/>
              </a:ext>
            </a:extLst>
          </p:cNvPr>
          <p:cNvSpPr txBox="1"/>
          <p:nvPr/>
        </p:nvSpPr>
        <p:spPr>
          <a:xfrm>
            <a:off x="633112" y="1059728"/>
            <a:ext cx="737837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Настройки функций:</a:t>
            </a:r>
            <a:br>
              <a:rPr lang="ru-RU" b="1" dirty="0"/>
            </a:br>
            <a:r>
              <a:rPr lang="en-US" dirty="0" err="1"/>
              <a:t>IncrementalPCA</a:t>
            </a:r>
            <a:r>
              <a:rPr lang="ru-RU" dirty="0"/>
              <a:t>:</a:t>
            </a:r>
            <a:br>
              <a:rPr lang="ru-RU" dirty="0"/>
            </a:br>
            <a:r>
              <a:rPr lang="ru-RU" dirty="0"/>
              <a:t>количество компонентов (</a:t>
            </a:r>
            <a:r>
              <a:rPr lang="en-US" dirty="0" err="1"/>
              <a:t>n_components</a:t>
            </a:r>
            <a:r>
              <a:rPr lang="ru-RU" dirty="0"/>
              <a:t>) –</a:t>
            </a:r>
            <a:r>
              <a:rPr lang="en-US" dirty="0"/>
              <a:t> 50</a:t>
            </a:r>
            <a:r>
              <a:rPr lang="ru-RU" dirty="0"/>
              <a:t>, 100 или больше при существенных потерях</a:t>
            </a:r>
          </a:p>
          <a:p>
            <a:r>
              <a:rPr lang="ru-RU" dirty="0"/>
              <a:t>Количество объектов на одну итерацию (</a:t>
            </a:r>
            <a:r>
              <a:rPr lang="en-US" dirty="0" err="1"/>
              <a:t>batch_size</a:t>
            </a:r>
            <a:r>
              <a:rPr lang="ru-RU" dirty="0"/>
              <a:t>) – 1000 или 5000 </a:t>
            </a:r>
            <a:br>
              <a:rPr lang="ru-RU" dirty="0"/>
            </a:br>
            <a:br>
              <a:rPr lang="ru-RU" dirty="0"/>
            </a:br>
            <a:r>
              <a:rPr lang="en-US" dirty="0" err="1"/>
              <a:t>MiniBatchKMeans</a:t>
            </a:r>
            <a:r>
              <a:rPr lang="ru-RU" dirty="0"/>
              <a:t>:</a:t>
            </a:r>
            <a:br>
              <a:rPr lang="ru-RU" dirty="0"/>
            </a:br>
            <a:r>
              <a:rPr lang="ru-RU" dirty="0"/>
              <a:t>количество кластеров (</a:t>
            </a:r>
            <a:r>
              <a:rPr lang="en-US" dirty="0" err="1"/>
              <a:t>n_clusters</a:t>
            </a:r>
            <a:r>
              <a:rPr lang="ru-RU" dirty="0"/>
              <a:t>) – 4</a:t>
            </a:r>
            <a:br>
              <a:rPr lang="ru-RU" dirty="0"/>
            </a:br>
            <a:r>
              <a:rPr lang="ru-RU" dirty="0"/>
              <a:t>размер пакета (</a:t>
            </a:r>
            <a:r>
              <a:rPr lang="en-US" dirty="0" err="1"/>
              <a:t>batch_size</a:t>
            </a:r>
            <a:r>
              <a:rPr lang="ru-RU" dirty="0"/>
              <a:t>) – 1024 или 2048</a:t>
            </a:r>
            <a:br>
              <a:rPr lang="ru-RU" dirty="0"/>
            </a:br>
            <a:r>
              <a:rPr lang="ru-RU" dirty="0"/>
              <a:t>максимальное количество итераций (</a:t>
            </a:r>
            <a:r>
              <a:rPr lang="en-US" dirty="0" err="1"/>
              <a:t>max_iter</a:t>
            </a:r>
            <a:r>
              <a:rPr lang="ru-RU" dirty="0"/>
              <a:t>) – 100</a:t>
            </a:r>
            <a:br>
              <a:rPr lang="ru-RU" dirty="0"/>
            </a:br>
            <a:r>
              <a:rPr lang="ru-RU" dirty="0"/>
              <a:t>количество запусков (</a:t>
            </a:r>
            <a:r>
              <a:rPr lang="en-US" dirty="0" err="1"/>
              <a:t>n_init</a:t>
            </a:r>
            <a:r>
              <a:rPr lang="ru-RU" dirty="0"/>
              <a:t>) – 10</a:t>
            </a:r>
            <a:br>
              <a:rPr lang="ru-RU" dirty="0"/>
            </a:br>
            <a:r>
              <a:rPr lang="en-US" dirty="0" err="1"/>
              <a:t>random_state</a:t>
            </a:r>
            <a:r>
              <a:rPr lang="en-US" dirty="0"/>
              <a:t> – 42 </a:t>
            </a:r>
            <a:r>
              <a:rPr lang="ru-RU" dirty="0"/>
              <a:t>к примеру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519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9E01B1-136E-4115-820E-743270608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Ожидаемые результаты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13A5DF6-7FAC-4985-B288-85A697B85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B75D3-EE43-4A2B-B1E4-8F2FFD828A0F}" type="slidenum">
              <a:rPr lang="ru-RU" smtClean="0"/>
              <a:t>7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D38F38-4BD7-434D-8286-AAF93543AAAD}"/>
              </a:ext>
            </a:extLst>
          </p:cNvPr>
          <p:cNvSpPr txBox="1"/>
          <p:nvPr/>
        </p:nvSpPr>
        <p:spPr>
          <a:xfrm>
            <a:off x="717001" y="991079"/>
            <a:ext cx="751259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Сравнительная модель информативности каналов:</a:t>
            </a:r>
            <a:br>
              <a:rPr lang="ru-RU" b="1" dirty="0"/>
            </a:br>
            <a:r>
              <a:rPr lang="ru-RU" dirty="0"/>
              <a:t>В результате сравнения наборов получим модель знаний о влиянии спектральных каналов на разделение объектов по классам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E9EFF6-8CEB-4715-B23A-28FBDFD2A785}"/>
              </a:ext>
            </a:extLst>
          </p:cNvPr>
          <p:cNvSpPr txBox="1"/>
          <p:nvPr/>
        </p:nvSpPr>
        <p:spPr>
          <a:xfrm>
            <a:off x="717001" y="2115572"/>
            <a:ext cx="7512597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Оценка результатов:</a:t>
            </a:r>
            <a:br>
              <a:rPr lang="ru-RU" dirty="0"/>
            </a:br>
            <a:r>
              <a:rPr lang="ru-RU" dirty="0"/>
              <a:t>Предлагаются следующие методы оценки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Silhouette Score</a:t>
            </a:r>
            <a:br>
              <a:rPr lang="ru-RU" dirty="0"/>
            </a:br>
            <a:r>
              <a:rPr lang="ru-RU" dirty="0"/>
              <a:t>Оценка на сколько каждый объект близок к своему кластеру и далек от соседних.</a:t>
            </a:r>
            <a:br>
              <a:rPr lang="ru-RU" dirty="0"/>
            </a:br>
            <a:r>
              <a:rPr lang="ru-RU" dirty="0"/>
              <a:t>Чем ближе значение к 1, тем лучше объект подходит к своему кластеру</a:t>
            </a:r>
            <a:br>
              <a:rPr lang="ru-RU" dirty="0"/>
            </a:b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Davies-Bouldin Index</a:t>
            </a:r>
            <a:br>
              <a:rPr lang="ru-RU" dirty="0"/>
            </a:br>
            <a:r>
              <a:rPr lang="ru-RU" dirty="0"/>
              <a:t>Оценка качества кластеризации через отношение собранности кластера и расположения кластеров друг к другу.</a:t>
            </a:r>
            <a:br>
              <a:rPr lang="ru-RU" dirty="0"/>
            </a:br>
            <a:r>
              <a:rPr lang="ru-RU" dirty="0"/>
              <a:t>Чем меньше полученное значение тем лучше.</a:t>
            </a:r>
            <a:br>
              <a:rPr lang="ru-RU" dirty="0"/>
            </a:b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Calinski-Harabasz</a:t>
            </a:r>
            <a:r>
              <a:rPr lang="en-US" dirty="0"/>
              <a:t> Index</a:t>
            </a:r>
            <a:br>
              <a:rPr lang="ru-RU" dirty="0"/>
            </a:br>
            <a:r>
              <a:rPr lang="ru-RU" dirty="0"/>
              <a:t>Сравнение разброса объектов между кластерами и внутри кластеров. </a:t>
            </a:r>
            <a:br>
              <a:rPr lang="ru-RU" dirty="0"/>
            </a:br>
            <a:r>
              <a:rPr lang="ru-RU" dirty="0"/>
              <a:t>Чем больше полученное значение тем лучше.</a:t>
            </a:r>
          </a:p>
        </p:txBody>
      </p:sp>
    </p:spTree>
    <p:extLst>
      <p:ext uri="{BB962C8B-B14F-4D97-AF65-F5344CB8AC3E}">
        <p14:creationId xmlns:p14="http://schemas.microsoft.com/office/powerpoint/2010/main" val="4219656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ED2BD9B-0B34-4260-AFB6-699958304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244921760"/>
      </p:ext>
    </p:extLst>
  </p:cSld>
  <p:clrMapOvr>
    <a:masterClrMapping/>
  </p:clrMapOvr>
</p:sld>
</file>

<file path=ppt/theme/theme1.xml><?xml version="1.0" encoding="utf-8"?>
<a:theme xmlns:a="http://schemas.openxmlformats.org/drawingml/2006/main" name="ETU">
  <a:themeElements>
    <a:clrScheme name="ETU">
      <a:dk1>
        <a:srgbClr val="27348A"/>
      </a:dk1>
      <a:lt1>
        <a:sysClr val="window" lastClr="FFFFFF"/>
      </a:lt1>
      <a:dk2>
        <a:srgbClr val="38489E"/>
      </a:dk2>
      <a:lt2>
        <a:srgbClr val="DADADA"/>
      </a:lt2>
      <a:accent1>
        <a:srgbClr val="05336D"/>
      </a:accent1>
      <a:accent2>
        <a:srgbClr val="AC8543"/>
      </a:accent2>
      <a:accent3>
        <a:srgbClr val="151515"/>
      </a:accent3>
      <a:accent4>
        <a:srgbClr val="151515"/>
      </a:accent4>
      <a:accent5>
        <a:srgbClr val="151515"/>
      </a:accent5>
      <a:accent6>
        <a:srgbClr val="FFFFFF"/>
      </a:accent6>
      <a:hlink>
        <a:srgbClr val="2998E3"/>
      </a:hlink>
      <a:folHlink>
        <a:srgbClr val="7F723D"/>
      </a:folHlink>
    </a:clrScheme>
    <a:fontScheme name="ETU">
      <a:majorFont>
        <a:latin typeface="GillSansC"/>
        <a:ea typeface=""/>
        <a:cs typeface=""/>
      </a:majorFont>
      <a:minorFont>
        <a:latin typeface="PT Sans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TU" id="{2E0C7158-F6FA-44A8-884C-511EA5ECB0D7}" vid="{04ED4DAA-3F7E-492E-9D8A-C35B6E8FC8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ETU</Template>
  <TotalTime>168</TotalTime>
  <Words>487</Words>
  <Application>Microsoft Office PowerPoint</Application>
  <PresentationFormat>Экран (4:3)</PresentationFormat>
  <Paragraphs>46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GillSansC</vt:lpstr>
      <vt:lpstr>PT Sans</vt:lpstr>
      <vt:lpstr>ETU</vt:lpstr>
      <vt:lpstr>Доклад №1 по дисциплине большие данные</vt:lpstr>
      <vt:lpstr>Набор данных</vt:lpstr>
      <vt:lpstr>Решаемая задача</vt:lpstr>
      <vt:lpstr>Датасет</vt:lpstr>
      <vt:lpstr>Используемый алгоритм</vt:lpstr>
      <vt:lpstr>Настройки / преобразование данных</vt:lpstr>
      <vt:lpstr>Ожидаемые результаты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Доклад №1 по дисциплине большие данные</dc:title>
  <dc:creator>sasha haiko</dc:creator>
  <cp:lastModifiedBy>sasha haiko</cp:lastModifiedBy>
  <cp:revision>177</cp:revision>
  <dcterms:created xsi:type="dcterms:W3CDTF">2026-03-13T20:38:05Z</dcterms:created>
  <dcterms:modified xsi:type="dcterms:W3CDTF">2026-03-13T23:26:32Z</dcterms:modified>
</cp:coreProperties>
</file>