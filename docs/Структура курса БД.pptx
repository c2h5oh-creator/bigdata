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PAintRmyf3YS53y9J6LTWdh+L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377D34C-AB6C-4A9F-9A08-1479D2D7018F}">
  <a:tblStyle styleId="{6377D34C-AB6C-4A9F-9A08-1479D2D701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-16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8c2402a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62" name="Google Shape;162;g268c2402a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268c2402a16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68c2402a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70" name="Google Shape;170;g268c2402a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268c2402a16_0_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77" name="Google Shape;1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84" name="Google Shape;18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91" name="Google Shape;19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99" name="Google Shape;19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400" tIns="46800" rIns="90000" bIns="46800" anchor="t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>
            <a:spLocks noGrp="1"/>
          </p:cNvSpPr>
          <p:nvPr>
            <p:ph type="title"/>
          </p:nvPr>
        </p:nvSpPr>
        <p:spPr>
          <a:xfrm>
            <a:off x="3352800" y="1066800"/>
            <a:ext cx="5103813" cy="155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400" tIns="46800" rIns="90000" bIns="46800" anchor="t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>
            <a:spLocks noGrp="1"/>
          </p:cNvSpPr>
          <p:nvPr>
            <p:ph type="title"/>
          </p:nvPr>
        </p:nvSpPr>
        <p:spPr>
          <a:xfrm rot="5400000">
            <a:off x="5252244" y="2397919"/>
            <a:ext cx="4718050" cy="20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400" tIns="46800" rIns="90000" bIns="46800" anchor="t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 rot="5400000">
            <a:off x="1062038" y="415925"/>
            <a:ext cx="471805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1800"/>
              <a:buAutoNum type="arabicPeriod"/>
              <a:defRPr/>
            </a:lvl1pPr>
            <a:lvl2pPr marL="914400" lvl="1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>
            <a:off x="3352800" y="1066800"/>
            <a:ext cx="5103812" cy="155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400" tIns="46800" rIns="90000" bIns="46800" anchor="t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body" idx="1"/>
          </p:nvPr>
        </p:nvSpPr>
        <p:spPr>
          <a:xfrm rot="5400000">
            <a:off x="2262980" y="-591343"/>
            <a:ext cx="4524375" cy="822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1800"/>
              <a:buAutoNum type="arabicPeriod"/>
              <a:defRPr/>
            </a:lvl1pPr>
            <a:lvl2pPr marL="914400" lvl="1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400" tIns="46800" rIns="90000" bIns="4680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400" tIns="46800" rIns="90000" bIns="4680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3200"/>
              <a:buAutoNum type="arabicPeriod"/>
              <a:defRPr sz="3200"/>
            </a:lvl1pPr>
            <a:lvl2pPr marL="914400" lvl="1" indent="-4064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355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2000"/>
              <a:buChar char="»"/>
              <a:defRPr sz="2000"/>
            </a:lvl6pPr>
            <a:lvl7pPr marL="3200400" lvl="6" indent="-355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2000"/>
              <a:buChar char="»"/>
              <a:defRPr sz="2000"/>
            </a:lvl7pPr>
            <a:lvl8pPr marL="3657600" lvl="7" indent="-355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2000"/>
              <a:buChar char="»"/>
              <a:defRPr sz="2000"/>
            </a:lvl8pPr>
            <a:lvl9pPr marL="4114800" lvl="8" indent="-355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2000"/>
              <a:buChar char="»"/>
              <a:defRPr sz="2000"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>
            <a:spLocks noGrp="1"/>
          </p:cNvSpPr>
          <p:nvPr>
            <p:ph type="title"/>
          </p:nvPr>
        </p:nvSpPr>
        <p:spPr>
          <a:xfrm>
            <a:off x="3352800" y="1066800"/>
            <a:ext cx="5103812" cy="155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400" tIns="46800" rIns="90000" bIns="46800" anchor="t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400" tIns="46800" rIns="90000" bIns="46800" anchor="t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400"/>
              <a:buAutoNum type="arabicPeriod"/>
              <a:defRPr sz="2400"/>
            </a:lvl1pPr>
            <a:lvl2pPr marL="914400" lvl="1" indent="-355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6pPr>
            <a:lvl7pPr marL="3200400" lvl="6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7pPr>
            <a:lvl8pPr marL="3657600" lvl="7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8pPr>
            <a:lvl9pPr marL="4114800" lvl="8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400"/>
              <a:buAutoNum type="arabicPeriod"/>
              <a:defRPr sz="2400"/>
            </a:lvl1pPr>
            <a:lvl2pPr marL="914400" lvl="1" indent="-355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6pPr>
            <a:lvl7pPr marL="3200400" lvl="6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7pPr>
            <a:lvl8pPr marL="3657600" lvl="7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8pPr>
            <a:lvl9pPr marL="4114800" lvl="8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>
            <a:spLocks noGrp="1"/>
          </p:cNvSpPr>
          <p:nvPr>
            <p:ph type="title"/>
          </p:nvPr>
        </p:nvSpPr>
        <p:spPr>
          <a:xfrm>
            <a:off x="3352800" y="1066800"/>
            <a:ext cx="5103812" cy="155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400" tIns="46800" rIns="90000" bIns="46800" anchor="t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1"/>
          </p:nvPr>
        </p:nvSpPr>
        <p:spPr>
          <a:xfrm>
            <a:off x="411163" y="1260475"/>
            <a:ext cx="4037012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64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800"/>
              <a:buAutoNum type="arabicPeriod"/>
              <a:defRPr sz="2800"/>
            </a:lvl1pPr>
            <a:lvl2pPr marL="914400" lvl="1" indent="-3810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6pPr>
            <a:lvl7pPr marL="3200400" lvl="6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7pPr>
            <a:lvl8pPr marL="3657600" lvl="7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8pPr>
            <a:lvl9pPr marL="4114800" lvl="8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2"/>
          </p:nvPr>
        </p:nvSpPr>
        <p:spPr>
          <a:xfrm>
            <a:off x="4600575" y="1260475"/>
            <a:ext cx="40386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64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800"/>
              <a:buAutoNum type="arabicPeriod"/>
              <a:defRPr sz="2800"/>
            </a:lvl1pPr>
            <a:lvl2pPr marL="914400" lvl="1" indent="-3810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6pPr>
            <a:lvl7pPr marL="3200400" lvl="6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7pPr>
            <a:lvl8pPr marL="3657600" lvl="7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8pPr>
            <a:lvl9pPr marL="4114800" lvl="8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400" tIns="46800" rIns="90000" bIns="46800" anchor="t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>
            <a:spLocks noGrp="1"/>
          </p:cNvSpPr>
          <p:nvPr>
            <p:ph type="title"/>
          </p:nvPr>
        </p:nvSpPr>
        <p:spPr>
          <a:xfrm>
            <a:off x="3352800" y="1066800"/>
            <a:ext cx="5103812" cy="155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400" tIns="46800" rIns="90000" bIns="46800" anchor="t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body" idx="1"/>
          </p:nvPr>
        </p:nvSpPr>
        <p:spPr>
          <a:xfrm>
            <a:off x="411162" y="1260475"/>
            <a:ext cx="8228012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1800"/>
              <a:buAutoNum type="arabicPeriod"/>
              <a:defRPr/>
            </a:lvl1pPr>
            <a:lvl2pPr marL="914400" lvl="1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762000" y="379412"/>
            <a:ext cx="7923212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1"/>
          </p:nvPr>
        </p:nvSpPr>
        <p:spPr>
          <a:xfrm>
            <a:off x="762000" y="1524000"/>
            <a:ext cx="7923212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429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1800"/>
              <a:buAutoNum type="arabicPeriod"/>
              <a:defRPr/>
            </a:lvl1pPr>
            <a:lvl2pPr marL="914400" lvl="1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 txBox="1">
            <a:spLocks noGrp="1"/>
          </p:cNvSpPr>
          <p:nvPr>
            <p:ph type="title"/>
          </p:nvPr>
        </p:nvSpPr>
        <p:spPr>
          <a:xfrm rot="5400000">
            <a:off x="5218113" y="1866900"/>
            <a:ext cx="4954587" cy="1979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body" idx="1"/>
          </p:nvPr>
        </p:nvSpPr>
        <p:spPr>
          <a:xfrm rot="5400000">
            <a:off x="1180306" y="-38893"/>
            <a:ext cx="4954587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429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1800"/>
              <a:buAutoNum type="arabicPeriod"/>
              <a:defRPr/>
            </a:lvl1pPr>
            <a:lvl2pPr marL="914400" lvl="1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3"/>
          <p:cNvSpPr txBox="1">
            <a:spLocks noGrp="1"/>
          </p:cNvSpPr>
          <p:nvPr>
            <p:ph type="title"/>
          </p:nvPr>
        </p:nvSpPr>
        <p:spPr>
          <a:xfrm>
            <a:off x="762000" y="379412"/>
            <a:ext cx="7923212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body" idx="1"/>
          </p:nvPr>
        </p:nvSpPr>
        <p:spPr>
          <a:xfrm rot="5400000">
            <a:off x="2818606" y="-532606"/>
            <a:ext cx="3810000" cy="792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429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1800"/>
              <a:buAutoNum type="arabicPeriod"/>
              <a:defRPr/>
            </a:lvl1pPr>
            <a:lvl2pPr marL="914400" lvl="1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4318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3200"/>
              <a:buAutoNum type="arabicPeriod"/>
              <a:defRPr sz="3200"/>
            </a:lvl1pPr>
            <a:lvl2pPr marL="914400" lvl="1" indent="-4064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355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2000"/>
              <a:buChar char="»"/>
              <a:defRPr sz="2000"/>
            </a:lvl6pPr>
            <a:lvl7pPr marL="3200400" lvl="6" indent="-355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2000"/>
              <a:buChar char="»"/>
              <a:defRPr sz="2000"/>
            </a:lvl7pPr>
            <a:lvl8pPr marL="3657600" lvl="7" indent="-355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2000"/>
              <a:buChar char="»"/>
              <a:defRPr sz="2000"/>
            </a:lvl8pPr>
            <a:lvl9pPr marL="4114800" lvl="8" indent="-355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2000"/>
              <a:buChar char="»"/>
              <a:defRPr sz="2000"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6"/>
          <p:cNvSpPr txBox="1">
            <a:spLocks noGrp="1"/>
          </p:cNvSpPr>
          <p:nvPr>
            <p:ph type="title"/>
          </p:nvPr>
        </p:nvSpPr>
        <p:spPr>
          <a:xfrm>
            <a:off x="762000" y="379412"/>
            <a:ext cx="7923212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810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400"/>
              <a:buAutoNum type="arabicPeriod"/>
              <a:defRPr sz="2400"/>
            </a:lvl1pPr>
            <a:lvl2pPr marL="914400" lvl="1" indent="-355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6pPr>
            <a:lvl7pPr marL="3200400" lvl="6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7pPr>
            <a:lvl8pPr marL="3657600" lvl="7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8pPr>
            <a:lvl9pPr marL="4114800" lvl="8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3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810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400"/>
              <a:buAutoNum type="arabicPeriod"/>
              <a:defRPr sz="2400"/>
            </a:lvl1pPr>
            <a:lvl2pPr marL="914400" lvl="1" indent="-355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6pPr>
            <a:lvl7pPr marL="3200400" lvl="6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7pPr>
            <a:lvl8pPr marL="3657600" lvl="7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8pPr>
            <a:lvl9pPr marL="4114800" lvl="8" indent="-3302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8"/>
          <p:cNvSpPr txBox="1">
            <a:spLocks noGrp="1"/>
          </p:cNvSpPr>
          <p:nvPr>
            <p:ph type="title"/>
          </p:nvPr>
        </p:nvSpPr>
        <p:spPr>
          <a:xfrm>
            <a:off x="762000" y="379412"/>
            <a:ext cx="7923212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8"/>
          <p:cNvSpPr txBox="1">
            <a:spLocks noGrp="1"/>
          </p:cNvSpPr>
          <p:nvPr>
            <p:ph type="body" idx="1"/>
          </p:nvPr>
        </p:nvSpPr>
        <p:spPr>
          <a:xfrm>
            <a:off x="762000" y="1524000"/>
            <a:ext cx="3884613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4064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800"/>
              <a:buAutoNum type="arabicPeriod"/>
              <a:defRPr sz="2800"/>
            </a:lvl1pPr>
            <a:lvl2pPr marL="914400" lvl="1" indent="-3810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6pPr>
            <a:lvl7pPr marL="3200400" lvl="6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7pPr>
            <a:lvl8pPr marL="3657600" lvl="7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8pPr>
            <a:lvl9pPr marL="4114800" lvl="8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>
            <a:endParaRPr/>
          </a:p>
        </p:txBody>
      </p:sp>
      <p:sp>
        <p:nvSpPr>
          <p:cNvPr id="88" name="Google Shape;88;p38"/>
          <p:cNvSpPr txBox="1">
            <a:spLocks noGrp="1"/>
          </p:cNvSpPr>
          <p:nvPr>
            <p:ph type="body" idx="2"/>
          </p:nvPr>
        </p:nvSpPr>
        <p:spPr>
          <a:xfrm>
            <a:off x="4799013" y="1524000"/>
            <a:ext cx="38862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4064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800"/>
              <a:buAutoNum type="arabicPeriod"/>
              <a:defRPr sz="2800"/>
            </a:lvl1pPr>
            <a:lvl2pPr marL="914400" lvl="1" indent="-3810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6pPr>
            <a:lvl7pPr marL="3200400" lvl="6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7pPr>
            <a:lvl8pPr marL="3657600" lvl="7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8pPr>
            <a:lvl9pPr marL="4114800" lvl="8" indent="-3429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ctr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19050" y="766762"/>
            <a:ext cx="9163050" cy="58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6"/>
          <p:cNvSpPr txBox="1"/>
          <p:nvPr/>
        </p:nvSpPr>
        <p:spPr>
          <a:xfrm>
            <a:off x="2081212" y="1600200"/>
            <a:ext cx="3748087" cy="23622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6"/>
          <p:cNvSpPr txBox="1"/>
          <p:nvPr/>
        </p:nvSpPr>
        <p:spPr>
          <a:xfrm>
            <a:off x="5562600" y="3429000"/>
            <a:ext cx="23622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6"/>
          <p:cNvSpPr txBox="1"/>
          <p:nvPr/>
        </p:nvSpPr>
        <p:spPr>
          <a:xfrm>
            <a:off x="3186112" y="914400"/>
            <a:ext cx="5780087" cy="140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6"/>
          <p:cNvSpPr txBox="1">
            <a:spLocks noGrp="1"/>
          </p:cNvSpPr>
          <p:nvPr>
            <p:ph type="title"/>
          </p:nvPr>
        </p:nvSpPr>
        <p:spPr>
          <a:xfrm>
            <a:off x="3352800" y="1066800"/>
            <a:ext cx="5103812" cy="155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400" tIns="46800" rIns="90000" bIns="4680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" name="Google Shape;15;p1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362200" y="2438400"/>
            <a:ext cx="22860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6"/>
          <p:cNvSpPr txBox="1">
            <a:spLocks noGrp="1"/>
          </p:cNvSpPr>
          <p:nvPr>
            <p:ph type="body" idx="1"/>
          </p:nvPr>
        </p:nvSpPr>
        <p:spPr>
          <a:xfrm>
            <a:off x="411162" y="1260475"/>
            <a:ext cx="8228012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064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762" y="33337"/>
            <a:ext cx="9136062" cy="679291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8"/>
          <p:cNvSpPr txBox="1">
            <a:spLocks noGrp="1"/>
          </p:cNvSpPr>
          <p:nvPr>
            <p:ph type="title"/>
          </p:nvPr>
        </p:nvSpPr>
        <p:spPr>
          <a:xfrm>
            <a:off x="762000" y="379412"/>
            <a:ext cx="7923212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body" idx="1"/>
          </p:nvPr>
        </p:nvSpPr>
        <p:spPr>
          <a:xfrm>
            <a:off x="762000" y="1524000"/>
            <a:ext cx="7923212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4064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3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3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3276600" y="1268412"/>
            <a:ext cx="5462587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Большие данные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5643562" y="2500312"/>
            <a:ext cx="3071812" cy="175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д.т.н., профессор</a:t>
            </a: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Холод Иван Иванович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iiholod@mail.ru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51500" y="3716337"/>
            <a:ext cx="3071812" cy="91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Введение в курс.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>
            <a:spLocks noGrp="1"/>
          </p:cNvSpPr>
          <p:nvPr>
            <p:ph type="title"/>
          </p:nvPr>
        </p:nvSpPr>
        <p:spPr>
          <a:xfrm>
            <a:off x="250825" y="260350"/>
            <a:ext cx="8139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i="0" u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Цель и задачи курса</a:t>
            </a:r>
            <a:endParaRPr/>
          </a:p>
        </p:txBody>
      </p:sp>
      <p:sp>
        <p:nvSpPr>
          <p:cNvPr id="109" name="Google Shape;109;p2"/>
          <p:cNvSpPr txBox="1">
            <a:spLocks noGrp="1"/>
          </p:cNvSpPr>
          <p:nvPr>
            <p:ph type="body" idx="1"/>
          </p:nvPr>
        </p:nvSpPr>
        <p:spPr>
          <a:xfrm>
            <a:off x="0" y="836612"/>
            <a:ext cx="8964612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1349375" marR="0" lvl="0" indent="-134937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Цель: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формирование представления о развитии средств и методов обработки и анализа Больших данных.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611187" y="2205037"/>
            <a:ext cx="7923212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3000"/>
              <a:buFont typeface="Arial"/>
              <a:buNone/>
            </a:pPr>
            <a:r>
              <a:rPr lang="en-US" sz="3000" b="1" i="0" u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215900" y="1819275"/>
            <a:ext cx="8713787" cy="146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533400" marR="0" lvl="0" indent="-5334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Задачи:</a:t>
            </a: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34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изучение знаний по базовым методам и алгоритмам обработки и анализа Больших данных и их усовершенствования для выполнения в параллельной и распределенной среде;</a:t>
            </a:r>
            <a:endParaRPr/>
          </a:p>
          <a:p>
            <a:pPr marL="5334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формирование умений и практических навыков разработки алгоритмического и программного обеспечения методов анализа Больших данных;</a:t>
            </a:r>
            <a:endParaRPr/>
          </a:p>
          <a:p>
            <a:pPr marL="5334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освоение навыков применения методов и алгоритмов анализа Больших данных;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>
            <a:spLocks noGrp="1"/>
          </p:cNvSpPr>
          <p:nvPr>
            <p:ph type="title" idx="4294967295"/>
          </p:nvPr>
        </p:nvSpPr>
        <p:spPr>
          <a:xfrm>
            <a:off x="250825" y="260350"/>
            <a:ext cx="8139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Структура курса</a:t>
            </a:r>
            <a:endParaRPr/>
          </a:p>
        </p:txBody>
      </p:sp>
      <p:sp>
        <p:nvSpPr>
          <p:cNvPr id="118" name="Google Shape;118;p3"/>
          <p:cNvSpPr txBox="1">
            <a:spLocks noGrp="1"/>
          </p:cNvSpPr>
          <p:nvPr>
            <p:ph type="body" idx="4294967295"/>
          </p:nvPr>
        </p:nvSpPr>
        <p:spPr>
          <a:xfrm>
            <a:off x="179387" y="908050"/>
            <a:ext cx="8964612" cy="259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531812" marR="0" lvl="0" indent="-53181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введение в курс;</a:t>
            </a:r>
            <a:endParaRPr/>
          </a:p>
          <a:p>
            <a:pPr marL="531812" marR="0" lvl="0" indent="-531812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поколения платформ данных;</a:t>
            </a:r>
            <a:endParaRPr/>
          </a:p>
          <a:p>
            <a:pPr marL="531812" marR="0" lvl="0" indent="-531812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хранение Больших данных;</a:t>
            </a:r>
            <a:endParaRPr/>
          </a:p>
          <a:p>
            <a:pPr marL="531812" marR="0" lvl="0" indent="-531812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распределенная обработка данных;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1812" lvl="0" indent="-506412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обработка потоковых данных ;</a:t>
            </a:r>
            <a:endParaRPr>
              <a:solidFill>
                <a:schemeClr val="dk1"/>
              </a:solidFill>
            </a:endParaRPr>
          </a:p>
          <a:p>
            <a:pPr marL="531812" marR="0" lvl="0" indent="-531812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федеративное обучение;</a:t>
            </a:r>
            <a:endParaRPr/>
          </a:p>
          <a:p>
            <a:pPr marL="531812" marR="0" lvl="0" indent="-531812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алгоритмы федеративного обучения;</a:t>
            </a:r>
            <a:endParaRPr/>
          </a:p>
          <a:p>
            <a:pPr marL="531813" marR="0" lvl="0" indent="-379413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>
            <a:spLocks noGrp="1"/>
          </p:cNvSpPr>
          <p:nvPr>
            <p:ph type="title" idx="4294967295"/>
          </p:nvPr>
        </p:nvSpPr>
        <p:spPr>
          <a:xfrm>
            <a:off x="323850" y="115887"/>
            <a:ext cx="8139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Анализ Больших данных. On-line</a:t>
            </a:r>
            <a:endParaRPr/>
          </a:p>
        </p:txBody>
      </p:sp>
      <p:sp>
        <p:nvSpPr>
          <p:cNvPr id="125" name="Google Shape;125;p4"/>
          <p:cNvSpPr txBox="1">
            <a:spLocks noGrp="1"/>
          </p:cNvSpPr>
          <p:nvPr>
            <p:ph type="body" idx="4294967295"/>
          </p:nvPr>
        </p:nvSpPr>
        <p:spPr>
          <a:xfrm>
            <a:off x="179387" y="549275"/>
            <a:ext cx="8964612" cy="259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6195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Модуль 1. Введение в анализ Больших данных </a:t>
            </a: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(Тест 20 вопросов):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1. Большие данные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2. Методы анализа данных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3. Поколения платформ Больших данных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4. Анализ распределенных данных</a:t>
            </a:r>
            <a:endParaRPr/>
          </a:p>
          <a:p>
            <a:pPr marL="36195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Модуль 2.</a:t>
            </a: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Хранение Больших данных </a:t>
            </a: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(Тест 20 вопросов):</a:t>
            </a:r>
            <a:endParaRPr sz="12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1. Реляционные (SQL) БД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2. noSQL БД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3. newSQL БД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4. Распределенные хранилища данных</a:t>
            </a:r>
            <a:endParaRPr/>
          </a:p>
          <a:p>
            <a:pPr marL="36195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Модуль 3. Распределенный анализ Больших данных </a:t>
            </a: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(тест 20 вопросов)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1. Масштабирование вычислений для Больших данных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2. Параллельное обучение 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3. Распределенные вычисления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4. Парадигма Map Reduce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5. Системы распределенного анализа данных</a:t>
            </a:r>
            <a:endParaRPr/>
          </a:p>
          <a:p>
            <a:pPr marL="36195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Модуль 4. Обработка потоковых данных </a:t>
            </a: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(Тест 20 вопросов)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1. Проблемы потоковой обработки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2. Требования к потоковой обработке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3. Архитектура</a:t>
            </a:r>
            <a:endParaRPr/>
          </a:p>
          <a:p>
            <a:pPr marL="36195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Модуль 5. Федеративное обучение </a:t>
            </a: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(Тест 20 вопросов)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1. Новая концепция анализа распределенных данных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2. Распределение данных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3. Классы систем федеративного обучения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4.1 Безопасность федеративного обучения. Виды атак.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4.2 Безопасность федеративного обучения. Методы защиты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5. Библиотеки федеративного обучения</a:t>
            </a:r>
            <a:endParaRPr/>
          </a:p>
          <a:p>
            <a:pPr marL="836612" marR="0" lvl="1" indent="-379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 6. Применение федеративного обучения</a:t>
            </a:r>
            <a:endParaRPr/>
          </a:p>
          <a:p>
            <a:pPr marL="531813" marR="0" lvl="0" indent="-455613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323850" y="2276475"/>
            <a:ext cx="7923212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3000"/>
              <a:buFont typeface="Arial"/>
              <a:buNone/>
            </a:pPr>
            <a:r>
              <a:rPr lang="en-US" sz="3000" b="1" i="0" u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>
            <a:spLocks noGrp="1"/>
          </p:cNvSpPr>
          <p:nvPr>
            <p:ph type="title" idx="4294967295"/>
          </p:nvPr>
        </p:nvSpPr>
        <p:spPr>
          <a:xfrm>
            <a:off x="250825" y="260350"/>
            <a:ext cx="8139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Структура курса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611187" y="2205037"/>
            <a:ext cx="7923212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3000"/>
              <a:buFont typeface="Arial"/>
              <a:buNone/>
            </a:pPr>
            <a:r>
              <a:rPr lang="en-US" sz="3000" b="1" i="0" u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aphicFrame>
        <p:nvGraphicFramePr>
          <p:cNvPr id="134" name="Google Shape;134;p5"/>
          <p:cNvGraphicFramePr/>
          <p:nvPr/>
        </p:nvGraphicFramePr>
        <p:xfrm>
          <a:off x="179387" y="908050"/>
          <a:ext cx="8785075" cy="1425483"/>
        </p:xfrm>
        <a:graphic>
          <a:graphicData uri="http://schemas.openxmlformats.org/drawingml/2006/table">
            <a:tbl>
              <a:tblPr>
                <a:noFill/>
                <a:tableStyleId>{6377D34C-AB6C-4A9F-9A08-1479D2D7018F}</a:tableStyleId>
              </a:tblPr>
              <a:tblGrid>
                <a:gridCol w="1076325"/>
                <a:gridCol w="430200"/>
                <a:gridCol w="430200"/>
                <a:gridCol w="430200"/>
                <a:gridCol w="430200"/>
                <a:gridCol w="430200"/>
                <a:gridCol w="430200"/>
                <a:gridCol w="430200"/>
                <a:gridCol w="430200"/>
                <a:gridCol w="430200"/>
                <a:gridCol w="452425"/>
                <a:gridCol w="479425"/>
                <a:gridCol w="501650"/>
                <a:gridCol w="503225"/>
                <a:gridCol w="501650"/>
                <a:gridCol w="461950"/>
                <a:gridCol w="469900"/>
                <a:gridCol w="466725"/>
              </a:tblGrid>
              <a:tr h="3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н1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н2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н3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н4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н5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н6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н7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н8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н9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н10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н11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н12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н13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н14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н15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н16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н17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347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Модули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Доклады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Практика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5"/>
          <p:cNvSpPr txBox="1"/>
          <p:nvPr/>
        </p:nvSpPr>
        <p:spPr>
          <a:xfrm>
            <a:off x="250825" y="2420937"/>
            <a:ext cx="86409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Практические занятия:</a:t>
            </a:r>
            <a:endParaRPr/>
          </a:p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теоретическая часть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on-line лекции (LETITech)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доклады на парах</a:t>
            </a:r>
            <a:endParaRPr/>
          </a:p>
          <a:p>
            <a:pPr marL="1371600" marR="0" lvl="3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системы хранения Больших данных</a:t>
            </a:r>
            <a:endParaRPr/>
          </a:p>
          <a:p>
            <a:pPr marL="1371600" marR="0" lvl="3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системы распределенной обработки Больших данных</a:t>
            </a:r>
            <a:endParaRPr/>
          </a:p>
          <a:p>
            <a:pPr marL="1371600" marR="0" lvl="3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системы обработки потоковых данных</a:t>
            </a:r>
            <a:endParaRPr/>
          </a:p>
          <a:p>
            <a:pPr marL="1371600" marR="0" lvl="3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фреймворки Федеративного обучения</a:t>
            </a:r>
            <a:endParaRPr/>
          </a:p>
          <a:p>
            <a:pPr marL="1371600" marR="0" lvl="3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алгоритмы федеративного обучения</a:t>
            </a:r>
            <a:endParaRPr/>
          </a:p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практическая часть  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теоретическое проектирование</a:t>
            </a:r>
            <a:endParaRPr/>
          </a:p>
          <a:p>
            <a:pPr marL="457200" marR="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практическая реализация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lang="en-US" sz="1600">
                <a:solidFill>
                  <a:schemeClr val="dk1"/>
                </a:solidFill>
              </a:rPr>
              <a:t> доп.задание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>
            <a:spLocks noGrp="1"/>
          </p:cNvSpPr>
          <p:nvPr>
            <p:ph type="title" idx="4294967295"/>
          </p:nvPr>
        </p:nvSpPr>
        <p:spPr>
          <a:xfrm>
            <a:off x="250825" y="260350"/>
            <a:ext cx="8139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Анализ данных (Обязательная часть)</a:t>
            </a:r>
            <a:endParaRPr/>
          </a:p>
        </p:txBody>
      </p:sp>
      <p:sp>
        <p:nvSpPr>
          <p:cNvPr id="142" name="Google Shape;142;p7"/>
          <p:cNvSpPr txBox="1">
            <a:spLocks noGrp="1"/>
          </p:cNvSpPr>
          <p:nvPr>
            <p:ph type="body" idx="4294967295"/>
          </p:nvPr>
        </p:nvSpPr>
        <p:spPr>
          <a:xfrm>
            <a:off x="250825" y="765175"/>
            <a:ext cx="8785225" cy="467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Реализация аналитической задачи методом машинного обучения на данных большого объема алгоритмом машинного обученияя в Yandex.Cloud и Data Shpere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Группы по 2 человека:</a:t>
            </a:r>
            <a:endParaRPr/>
          </a:p>
          <a:p>
            <a:pPr marL="0" marR="0" lvl="0" indent="-1016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инженер данных;</a:t>
            </a:r>
            <a:endParaRPr/>
          </a:p>
          <a:p>
            <a:pPr marL="0" marR="0" lvl="0" indent="-1016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аналитик;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выбор:</a:t>
            </a:r>
            <a:endParaRPr/>
          </a:p>
          <a:p>
            <a:pPr marL="0" marR="0" lvl="0" indent="-1016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/>
              <a:t> </a:t>
            </a: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набор данных;</a:t>
            </a:r>
            <a:endParaRPr/>
          </a:p>
          <a:p>
            <a:pPr marL="0" marR="0" lvl="0" indent="-1016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решаемая задача</a:t>
            </a:r>
            <a:endParaRPr/>
          </a:p>
          <a:p>
            <a:pPr marL="0" marR="0" lvl="0" indent="-1016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используемые ML алгоритм;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Порядок выполнения:</a:t>
            </a:r>
            <a:endParaRPr/>
          </a:p>
          <a:p>
            <a:pPr marL="0" marR="0" lvl="0" indent="-1016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Теоретическое проектирование:  </a:t>
            </a: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Доклад №1</a:t>
            </a:r>
            <a:endParaRPr/>
          </a:p>
          <a:p>
            <a:pPr marL="0" marR="0" lvl="0" indent="-1016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Практическая реализация: Доклад №2 по результатам</a:t>
            </a:r>
            <a:endParaRPr/>
          </a:p>
          <a:p>
            <a:pPr marL="836612" marR="0" lvl="1" indent="-37941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Последовательное выполнение ML алгоритма </a:t>
            </a:r>
            <a:endParaRPr/>
          </a:p>
          <a:p>
            <a:pPr marL="836612" marR="0" lvl="1" indent="-37941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Параллельное выполнение ML алгоритма</a:t>
            </a:r>
            <a:endParaRPr/>
          </a:p>
          <a:p>
            <a:pPr marL="531813" marR="0" lvl="0" indent="-442913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611187" y="2205037"/>
            <a:ext cx="7923212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3000"/>
              <a:buFont typeface="Arial"/>
              <a:buNone/>
            </a:pPr>
            <a:r>
              <a:rPr lang="en-US" sz="3000" b="1" i="0" u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title" idx="4294967295"/>
          </p:nvPr>
        </p:nvSpPr>
        <p:spPr>
          <a:xfrm>
            <a:off x="250825" y="260350"/>
            <a:ext cx="8139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План доклада №1</a:t>
            </a:r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body" idx="4294967295"/>
          </p:nvPr>
        </p:nvSpPr>
        <p:spPr>
          <a:xfrm>
            <a:off x="142875" y="836612"/>
            <a:ext cx="8821737" cy="489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177800" marR="0" lvl="0" indent="-1778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Подходы к анализу данных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Общая информация по данным: источник, кем предоставлены, когда и для каких задач могут использоваться.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Описание целевой задачи анализа данных исходя из данных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Метаинформация: формат, количество атрибутов и векторов, типы атрибутов, классы и т.п.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Ограничения данных: пропущенные значения, аномалии, и т.п..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Предлагаемый ML алгоритм для решения целевой задачи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Необходимые настройки данных для каждого алгоритма.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Ожидаемые модели знаний, построенные алгоритмами.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Предлагаемые методы и критерии оценки построенных моделей.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1813" marR="0" lvl="0" indent="-404813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611187" y="2205037"/>
            <a:ext cx="7923212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3000"/>
              <a:buFont typeface="Arial"/>
              <a:buNone/>
            </a:pPr>
            <a:r>
              <a:rPr lang="en-US" sz="3000" b="1" i="0" u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>
            <a:spLocks noGrp="1"/>
          </p:cNvSpPr>
          <p:nvPr>
            <p:ph type="title" idx="4294967295"/>
          </p:nvPr>
        </p:nvSpPr>
        <p:spPr>
          <a:xfrm>
            <a:off x="250825" y="260350"/>
            <a:ext cx="8139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План доклада №2</a:t>
            </a:r>
            <a:endParaRPr/>
          </a:p>
        </p:txBody>
      </p:sp>
      <p:sp>
        <p:nvSpPr>
          <p:cNvPr id="158" name="Google Shape;158;p10"/>
          <p:cNvSpPr txBox="1">
            <a:spLocks noGrp="1"/>
          </p:cNvSpPr>
          <p:nvPr>
            <p:ph type="body" idx="4294967295"/>
          </p:nvPr>
        </p:nvSpPr>
        <p:spPr>
          <a:xfrm>
            <a:off x="28575" y="836612"/>
            <a:ext cx="9036050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814387" marR="0" lvl="0" indent="-81438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 данных</a:t>
            </a:r>
            <a:endParaRPr/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Процесс анализа: выполненные этапы анализа и итерации;</a:t>
            </a:r>
            <a:endParaRPr/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Настройки/преобразования данных (привести фрагменты физических и логических данных).</a:t>
            </a:r>
            <a:endParaRPr/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Настройки функций (привести скриншот).</a:t>
            </a:r>
            <a:endParaRPr/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Настройки алгоритма (привести скриншоты).</a:t>
            </a:r>
            <a:endParaRPr/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-US" sz="2000" i="0" u="none" strike="noStrike" cap="none">
                <a:solidFill>
                  <a:srgbClr val="000000"/>
                </a:solidFill>
              </a:rPr>
              <a:t>Построение моделей алгоритмом: время построения в зависимости от объема данных;</a:t>
            </a:r>
            <a:endParaRPr/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-US" sz="2000" i="0" u="none" strike="noStrike" cap="none">
                <a:solidFill>
                  <a:srgbClr val="000000"/>
                </a:solidFill>
              </a:rPr>
              <a:t>Построение модели : время построения в зависимости от числа вычислителей;</a:t>
            </a:r>
            <a:endParaRPr sz="2000" i="0" u="none" strike="noStrike" cap="none">
              <a:solidFill>
                <a:srgbClr val="000000"/>
              </a:solidFill>
            </a:endParaRPr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Построенные модели и их оценки.</a:t>
            </a:r>
            <a:endParaRPr/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Выводы.</a:t>
            </a:r>
            <a:endParaRPr/>
          </a:p>
          <a:p>
            <a:pPr marL="720725" marR="0" lvl="1" indent="-2333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1813" marR="0" lvl="0" indent="-417513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611187" y="2205037"/>
            <a:ext cx="7923212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3000"/>
              <a:buFont typeface="Arial"/>
              <a:buNone/>
            </a:pPr>
            <a:r>
              <a:rPr lang="en-US" sz="3000" b="1" i="0" u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68c2402a16_0_0"/>
          <p:cNvSpPr txBox="1">
            <a:spLocks noGrp="1"/>
          </p:cNvSpPr>
          <p:nvPr>
            <p:ph type="body" idx="4294967295"/>
          </p:nvPr>
        </p:nvSpPr>
        <p:spPr>
          <a:xfrm>
            <a:off x="250825" y="983775"/>
            <a:ext cx="87852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Реализация аналитической задачи методом машинного обучения на данных большого объема алгоритмом машинного обучения в Yandex.Cloud и Data Shpere </a:t>
            </a:r>
            <a:r>
              <a:rPr lang="en-US" sz="2000">
                <a:solidFill>
                  <a:schemeClr val="dk1"/>
                </a:solidFill>
              </a:rPr>
              <a:t>с </a:t>
            </a:r>
            <a:r>
              <a:rPr lang="en-US" sz="1600"/>
              <a:t>использованием </a:t>
            </a:r>
            <a:r>
              <a:rPr lang="en-US" sz="1600" b="1"/>
              <a:t>Apache Spark (DataProc) </a:t>
            </a:r>
            <a:r>
              <a:rPr lang="en-US" sz="2000">
                <a:solidFill>
                  <a:schemeClr val="dk1"/>
                </a:solidFill>
              </a:rPr>
              <a:t/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Группы по 2 человека:</a:t>
            </a:r>
            <a:endParaRPr/>
          </a:p>
          <a:p>
            <a:pPr marL="0" marR="0" lvl="0" indent="-1016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инженер данных;</a:t>
            </a:r>
            <a:endParaRPr/>
          </a:p>
          <a:p>
            <a:pPr marL="0" marR="0" lvl="0" indent="-1016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аналитик;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выбор:</a:t>
            </a:r>
            <a:endParaRPr/>
          </a:p>
          <a:p>
            <a:pPr marL="0" marR="0" lvl="0" indent="-1016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/>
              <a:t> </a:t>
            </a: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набор данных;</a:t>
            </a:r>
            <a:endParaRPr/>
          </a:p>
          <a:p>
            <a:pPr marL="0" marR="0" lvl="0" indent="-1016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решаемая задача</a:t>
            </a:r>
            <a:endParaRPr/>
          </a:p>
          <a:p>
            <a:pPr marL="0" marR="0" lvl="0" indent="-101600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используемые ML алгоритм </a:t>
            </a:r>
            <a:r>
              <a:rPr lang="en-US" sz="2000" b="1">
                <a:solidFill>
                  <a:schemeClr val="dk1"/>
                </a:solidFill>
              </a:rPr>
              <a:t>из модуля Apache Spark MLlib</a:t>
            </a: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268c2402a16_0_0"/>
          <p:cNvSpPr txBox="1">
            <a:spLocks noGrp="1"/>
          </p:cNvSpPr>
          <p:nvPr>
            <p:ph type="title" idx="4294967295"/>
          </p:nvPr>
        </p:nvSpPr>
        <p:spPr>
          <a:xfrm>
            <a:off x="250825" y="260350"/>
            <a:ext cx="81390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B40000"/>
                </a:solidFill>
              </a:rPr>
              <a:t>Масштабируемый а</a:t>
            </a:r>
            <a:r>
              <a:rPr lang="en-US" sz="30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нализ данных (</a:t>
            </a:r>
            <a:r>
              <a:rPr lang="en-US" sz="3000">
                <a:solidFill>
                  <a:srgbClr val="B40000"/>
                </a:solidFill>
              </a:rPr>
              <a:t>Опциональная</a:t>
            </a:r>
            <a:r>
              <a:rPr lang="en-US" sz="30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часть)</a:t>
            </a:r>
            <a:endParaRPr/>
          </a:p>
        </p:txBody>
      </p:sp>
      <p:sp>
        <p:nvSpPr>
          <p:cNvPr id="167" name="Google Shape;167;g268c2402a16_0_0"/>
          <p:cNvSpPr txBox="1"/>
          <p:nvPr/>
        </p:nvSpPr>
        <p:spPr>
          <a:xfrm>
            <a:off x="611187" y="2205037"/>
            <a:ext cx="7923300" cy="10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3000"/>
              <a:buFont typeface="Arial"/>
              <a:buNone/>
            </a:pPr>
            <a:r>
              <a:rPr lang="en-US" sz="3000" b="1" i="0" u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68c2402a16_0_7"/>
          <p:cNvSpPr txBox="1">
            <a:spLocks noGrp="1"/>
          </p:cNvSpPr>
          <p:nvPr>
            <p:ph type="title" idx="4294967295"/>
          </p:nvPr>
        </p:nvSpPr>
        <p:spPr>
          <a:xfrm>
            <a:off x="250825" y="260350"/>
            <a:ext cx="81390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План доклада №</a:t>
            </a:r>
            <a:r>
              <a:rPr lang="en-US" sz="3000">
                <a:solidFill>
                  <a:srgbClr val="B40000"/>
                </a:solidFill>
              </a:rPr>
              <a:t>3 (Опциональный)</a:t>
            </a:r>
            <a:endParaRPr/>
          </a:p>
        </p:txBody>
      </p:sp>
      <p:sp>
        <p:nvSpPr>
          <p:cNvPr id="174" name="Google Shape;174;g268c2402a16_0_7"/>
          <p:cNvSpPr txBox="1">
            <a:spLocks noGrp="1"/>
          </p:cNvSpPr>
          <p:nvPr>
            <p:ph type="body" idx="4294967295"/>
          </p:nvPr>
        </p:nvSpPr>
        <p:spPr>
          <a:xfrm>
            <a:off x="28575" y="836612"/>
            <a:ext cx="9036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814387" marR="0" lvl="0" indent="-81438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 данных</a:t>
            </a:r>
            <a:endParaRPr/>
          </a:p>
          <a:p>
            <a:pPr marL="836612" lvl="1" indent="-379412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b="0">
                <a:solidFill>
                  <a:schemeClr val="dk1"/>
                </a:solidFill>
              </a:rPr>
              <a:t>Общая информация по данным: источник, кем предоставлены, когда и для каких задач могут использоваться.</a:t>
            </a:r>
            <a:endParaRPr>
              <a:solidFill>
                <a:schemeClr val="dk1"/>
              </a:solidFill>
            </a:endParaRPr>
          </a:p>
          <a:p>
            <a:pPr marL="836612" lvl="1" indent="-379412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b="0">
                <a:solidFill>
                  <a:schemeClr val="dk1"/>
                </a:solidFill>
              </a:rPr>
              <a:t>Описание целевой задачи анализа данных исходя из данных</a:t>
            </a:r>
            <a:endParaRPr>
              <a:solidFill>
                <a:schemeClr val="dk1"/>
              </a:solidFill>
            </a:endParaRPr>
          </a:p>
          <a:p>
            <a:pPr marL="836612" lvl="1" indent="-379412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b="0">
                <a:solidFill>
                  <a:schemeClr val="dk1"/>
                </a:solidFill>
              </a:rPr>
              <a:t>Предлагаемый ML алгоритм для решения целевой задачи</a:t>
            </a:r>
            <a:endParaRPr>
              <a:solidFill>
                <a:schemeClr val="dk1"/>
              </a:solidFill>
            </a:endParaRPr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Процесс анализа: выполненные этапы анализа и итерации;</a:t>
            </a:r>
            <a:endParaRPr/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Настройки/преобразования данных (привести фрагменты физических и логических данных).</a:t>
            </a:r>
            <a:endParaRPr/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-US" sz="2000" i="0" u="none" strike="noStrike" cap="none">
                <a:solidFill>
                  <a:srgbClr val="000000"/>
                </a:solidFill>
              </a:rPr>
              <a:t>Построение моделей алгоритмом: время построения в зависимости от объема данных;</a:t>
            </a:r>
            <a:endParaRPr/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-US" sz="2000" i="0" u="none" strike="noStrike" cap="none">
                <a:solidFill>
                  <a:srgbClr val="000000"/>
                </a:solidFill>
              </a:rPr>
              <a:t>Построение модели : время построения в зависимости от числа вычислителей;</a:t>
            </a:r>
            <a:endParaRPr sz="2000" i="0" u="none" strike="noStrike" cap="none">
              <a:solidFill>
                <a:srgbClr val="000000"/>
              </a:solidFill>
            </a:endParaRPr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Построенные модели и их оценки.</a:t>
            </a:r>
            <a:endParaRPr/>
          </a:p>
          <a:p>
            <a:pPr marL="720725" marR="0" lvl="1" indent="-3476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Выводы.</a:t>
            </a:r>
            <a:endParaRPr/>
          </a:p>
          <a:p>
            <a:pPr marL="720725" marR="0" lvl="1" indent="-23336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1812" marR="0" lvl="0" indent="-417512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 txBox="1">
            <a:spLocks noGrp="1"/>
          </p:cNvSpPr>
          <p:nvPr>
            <p:ph type="title" idx="4294967295"/>
          </p:nvPr>
        </p:nvSpPr>
        <p:spPr>
          <a:xfrm>
            <a:off x="250825" y="260350"/>
            <a:ext cx="8139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Оценка знаний</a:t>
            </a:r>
            <a:endParaRPr/>
          </a:p>
        </p:txBody>
      </p:sp>
      <p:sp>
        <p:nvSpPr>
          <p:cNvPr id="181" name="Google Shape;181;p12"/>
          <p:cNvSpPr txBox="1">
            <a:spLocks noGrp="1"/>
          </p:cNvSpPr>
          <p:nvPr>
            <p:ph type="body" idx="4294967295"/>
          </p:nvPr>
        </p:nvSpPr>
        <p:spPr>
          <a:xfrm>
            <a:off x="0" y="765175"/>
            <a:ext cx="9251950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714375" marR="0" lvl="1" indent="-35718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Оценка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дисциплине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формируется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из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оценки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теоретическую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часть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минимум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dirty="0">
                <a:solidFill>
                  <a:srgbClr val="FF0000"/>
                </a:solidFill>
              </a:rPr>
              <a:t>3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максимум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dirty="0"/>
              <a:t>5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баллов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dirty="0"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оценки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практическую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часть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минимум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dirty="0">
                <a:solidFill>
                  <a:srgbClr val="FF0000"/>
                </a:solidFill>
              </a:rPr>
              <a:t>3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максимум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dirty="0"/>
              <a:t>5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баллов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dirty="0"/>
          </a:p>
          <a:p>
            <a:pPr marL="714375" marR="0" lvl="1" indent="-3571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Допуск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к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экзамену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выполнены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два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условия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714375" marR="0" lvl="1" indent="-3571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выполнена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практическая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часть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≥ </a:t>
            </a:r>
            <a:r>
              <a:rPr lang="en-US" sz="1800" b="0" dirty="0"/>
              <a:t>3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0;</a:t>
            </a:r>
            <a:endParaRPr dirty="0"/>
          </a:p>
          <a:p>
            <a:pPr marL="714375" marR="0" lvl="1" indent="-3571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пройдены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тесты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 on-line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курсе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≥ </a:t>
            </a:r>
            <a:r>
              <a:rPr lang="en-US" sz="1800" b="0" dirty="0"/>
              <a:t>3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(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правильные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ответы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минимум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dirty="0"/>
              <a:t>6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0%).</a:t>
            </a:r>
            <a:endParaRPr dirty="0"/>
          </a:p>
          <a:p>
            <a:pPr marL="714375" marR="0" lvl="1" indent="-3571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Итоговая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оценка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вычисляется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следующим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образом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714375" marR="0" lvl="1" indent="-3571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5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набрано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баллов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≥ </a:t>
            </a:r>
            <a:r>
              <a:rPr lang="en-US" sz="1800" b="0" dirty="0" smtClean="0"/>
              <a:t>9</a:t>
            </a:r>
            <a:r>
              <a:rPr lang="ru-RU" sz="18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баллов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714375" marR="0" lvl="1" indent="-3571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4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 b="0" dirty="0" smtClean="0"/>
              <a:t>80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набрано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баллов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lang="en-US" sz="1800" b="0" dirty="0" smtClean="0"/>
              <a:t>9</a:t>
            </a:r>
            <a:r>
              <a:rPr lang="ru-RU" sz="18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714375" marR="0" lvl="1" indent="-3571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dirty="0"/>
              <a:t>6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800" b="0" dirty="0">
                <a:solidFill>
                  <a:schemeClr val="dk1"/>
                </a:solidFill>
              </a:rPr>
              <a:t>≤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набрано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баллов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≤ </a:t>
            </a:r>
            <a:r>
              <a:rPr lang="en-US" sz="1800" b="0" dirty="0"/>
              <a:t>75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714375" marR="0" lvl="1" indent="-3571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аттестован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dirty="0"/>
              <a:t>&lt;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dirty="0"/>
              <a:t>6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баллов</a:t>
            </a:r>
            <a:endParaRPr dirty="0"/>
          </a:p>
          <a:p>
            <a:pPr marL="714375" marR="0" lvl="1" indent="-3571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2428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2428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6575" marR="0" lvl="2" indent="-241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1813" marR="0" lvl="0" indent="-417513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>
            <a:spLocks noGrp="1"/>
          </p:cNvSpPr>
          <p:nvPr>
            <p:ph type="title" idx="4294967295"/>
          </p:nvPr>
        </p:nvSpPr>
        <p:spPr>
          <a:xfrm>
            <a:off x="250825" y="260350"/>
            <a:ext cx="8139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Оценка знаний. Теоретическая часть</a:t>
            </a:r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body" idx="4294967295"/>
          </p:nvPr>
        </p:nvSpPr>
        <p:spPr>
          <a:xfrm>
            <a:off x="0" y="765175"/>
            <a:ext cx="9252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714375" marR="0" lvl="1" indent="-35718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Оценка </a:t>
            </a: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 теоретическую часть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может быть получена: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тесты в on-line курсе – </a:t>
            </a:r>
            <a:r>
              <a:rPr lang="en-US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минимум </a:t>
            </a:r>
            <a:r>
              <a:rPr lang="en-US" sz="1600" b="0">
                <a:solidFill>
                  <a:srgbClr val="FF0000"/>
                </a:solidFill>
              </a:rPr>
              <a:t>3</a:t>
            </a:r>
            <a:r>
              <a:rPr lang="en-US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максимум </a:t>
            </a:r>
            <a:r>
              <a:rPr lang="en-US" sz="1600" b="0">
                <a:solidFill>
                  <a:schemeClr val="dk1"/>
                </a:solidFill>
              </a:rPr>
              <a:t>5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баллов (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балл за </a:t>
            </a:r>
            <a:r>
              <a:rPr lang="en-US" sz="1600" b="0" i="1">
                <a:solidFill>
                  <a:schemeClr val="dk1"/>
                </a:solidFill>
              </a:rPr>
              <a:t>2% правильных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ответов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 доклад - максимум 10 баллов;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 оппонирование докладов - максимум 5 баллов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 экзамен - максимум 10 баллов за вопрос.</a:t>
            </a:r>
            <a:endParaRPr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2555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2555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6575" marR="0" lvl="2" indent="-254000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1812" marR="0" lvl="0" indent="-430212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>
            <a:spLocks noGrp="1"/>
          </p:cNvSpPr>
          <p:nvPr>
            <p:ph type="title" idx="4294967295"/>
          </p:nvPr>
        </p:nvSpPr>
        <p:spPr>
          <a:xfrm>
            <a:off x="250825" y="260350"/>
            <a:ext cx="8139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Оценка знаний. Практическая часть</a:t>
            </a: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body" idx="4294967295"/>
          </p:nvPr>
        </p:nvSpPr>
        <p:spPr>
          <a:xfrm>
            <a:off x="0" y="765175"/>
            <a:ext cx="9251950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714375" marR="0" lvl="1" indent="-35718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Оценка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практическую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часть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может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быть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получена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доклады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выполнение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заданий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доклад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 –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максимум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10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баллов</a:t>
            </a:r>
            <a:endParaRPr dirty="0"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 b="0" dirty="0" err="1"/>
              <a:t>д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оклад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 –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максимум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баллов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dirty="0"/>
          </a:p>
          <a:p>
            <a:pPr marL="1171575" marR="0" lvl="2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последовательный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алгоритм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(10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баллов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dirty="0"/>
          </a:p>
          <a:p>
            <a:pPr marL="1171575" marR="0" lvl="2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US" sz="1600" b="0" dirty="0" err="1"/>
              <a:t>параллельный</a:t>
            </a:r>
            <a:r>
              <a:rPr lang="en-US" sz="1600" b="0" dirty="0"/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алгоритм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(10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баллов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36612" marR="0" lvl="1" indent="-354012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600"/>
              <a:buChar char="-"/>
            </a:pPr>
            <a:r>
              <a:rPr lang="en-US" sz="1600" b="0" dirty="0" err="1"/>
              <a:t>доклад</a:t>
            </a:r>
            <a:r>
              <a:rPr lang="en-US" sz="1600" b="0" dirty="0"/>
              <a:t> 3 (</a:t>
            </a:r>
            <a:r>
              <a:rPr lang="en-US" sz="1600" b="0" dirty="0" err="1"/>
              <a:t>опциональный</a:t>
            </a:r>
            <a:r>
              <a:rPr lang="en-US" sz="1600" b="0" dirty="0"/>
              <a:t>) - </a:t>
            </a:r>
            <a:r>
              <a:rPr lang="en-US" sz="1600" b="0" dirty="0" err="1"/>
              <a:t>максимум</a:t>
            </a:r>
            <a:r>
              <a:rPr lang="en-US" sz="1600" b="0" dirty="0"/>
              <a:t> 20 </a:t>
            </a:r>
            <a:r>
              <a:rPr lang="en-US" sz="1600" b="0" dirty="0" err="1"/>
              <a:t>баллов</a:t>
            </a:r>
            <a:r>
              <a:rPr lang="en-US" sz="1600" b="0" dirty="0"/>
              <a:t> (</a:t>
            </a:r>
            <a:r>
              <a:rPr lang="en-US" sz="1600" b="0" dirty="0" err="1"/>
              <a:t>доп.баллы</a:t>
            </a:r>
            <a:r>
              <a:rPr lang="en-US" sz="1600" b="0" dirty="0"/>
              <a:t>)</a:t>
            </a:r>
            <a:endParaRPr sz="1600" b="0" dirty="0"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Презентации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присылаются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проверку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1 </a:t>
            </a:r>
            <a:r>
              <a:rPr lang="en-US" sz="1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неделю</a:t>
            </a:r>
            <a:r>
              <a:rPr lang="en-US" sz="1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доклада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График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сдачи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работы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дополнительных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баллов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выполнения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ВСЕЙ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обязательной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практики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01.05</a:t>
            </a:r>
            <a:endParaRPr dirty="0"/>
          </a:p>
          <a:p>
            <a:pPr marL="714375" marR="0" lvl="1" indent="-357187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3571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2555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75" marR="0" lvl="1" indent="-2555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71575" marR="0" lvl="2" indent="-255587" algn="l" rtl="0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1813" marR="0" lvl="0" indent="-430213" algn="l" rtl="0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6" name="Google Shape;196;p14"/>
          <p:cNvGraphicFramePr/>
          <p:nvPr/>
        </p:nvGraphicFramePr>
        <p:xfrm>
          <a:off x="441418" y="3285565"/>
          <a:ext cx="8207350" cy="2078980"/>
        </p:xfrm>
        <a:graphic>
          <a:graphicData uri="http://schemas.openxmlformats.org/drawingml/2006/table">
            <a:tbl>
              <a:tblPr>
                <a:noFill/>
                <a:tableStyleId>{6377D34C-AB6C-4A9F-9A08-1479D2D7018F}</a:tableStyleId>
              </a:tblPr>
              <a:tblGrid>
                <a:gridCol w="4248150"/>
                <a:gridCol w="1223950"/>
                <a:gridCol w="2735250"/>
              </a:tblGrid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i="0" u="none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Доклад</a:t>
                      </a:r>
                      <a:endParaRPr dirty="0"/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Срок</a:t>
                      </a:r>
                      <a:endParaRPr/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Штраф</a:t>
                      </a:r>
                      <a:endParaRPr/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Теоретическое проектирование</a:t>
                      </a:r>
                      <a:endParaRPr/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ru-RU" sz="1600" dirty="0" smtClean="0"/>
                        <a:t>1</a:t>
                      </a:r>
                      <a:r>
                        <a:rPr lang="en-US" sz="1600" b="0" i="0" u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.03</a:t>
                      </a:r>
                      <a:endParaRPr dirty="0"/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</a:t>
                      </a:r>
                      <a:r>
                        <a:rPr lang="en-US" sz="1600" b="0" i="0" u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балла</a:t>
                      </a: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b="0" i="0" u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</a:t>
                      </a: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600" b="0" i="0" u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r>
                        <a:rPr lang="en-US" sz="1600" b="0" i="0" u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.04</a:t>
                      </a: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600" dirty="0"/>
                        <a:t>5</a:t>
                      </a: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b="0" i="0" u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после</a:t>
                      </a:r>
                      <a:endParaRPr dirty="0"/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Последовательное выполнение алгоритма </a:t>
                      </a:r>
                      <a:endParaRPr/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r>
                        <a:rPr lang="en-US" sz="1600" b="0" i="0" u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.04</a:t>
                      </a:r>
                      <a:endParaRPr dirty="0"/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</a:t>
                      </a:r>
                      <a:r>
                        <a:rPr lang="en-US" sz="1600" b="0" i="0" u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балла</a:t>
                      </a: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b="0" i="0" u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</a:t>
                      </a: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dirty="0" smtClean="0"/>
                        <a:t>1</a:t>
                      </a:r>
                      <a:r>
                        <a:rPr lang="ru-RU" sz="1600" dirty="0" smtClean="0"/>
                        <a:t>6</a:t>
                      </a:r>
                      <a:r>
                        <a:rPr lang="en-US" sz="1600" b="0" i="0" u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.05</a:t>
                      </a: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600" dirty="0"/>
                        <a:t>5</a:t>
                      </a: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b="0" i="0" u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после</a:t>
                      </a:r>
                      <a:endParaRPr dirty="0"/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6E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Параллельное выполнение алгоритма</a:t>
                      </a:r>
                      <a:endParaRPr/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r>
                        <a:rPr lang="en-US" sz="1600" b="0" i="0" u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.05</a:t>
                      </a:r>
                      <a:endParaRPr dirty="0"/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</a:t>
                      </a:r>
                      <a:r>
                        <a:rPr lang="en-US" sz="1600" b="0" i="0" u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баллов</a:t>
                      </a: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b="0" i="0" u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после</a:t>
                      </a: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600" b="0" i="0" u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r>
                        <a:rPr lang="en-US" sz="1600" b="0" i="0" u="none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.05</a:t>
                      </a:r>
                      <a:endParaRPr dirty="0"/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</a:tr>
              <a:tr h="387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Масштабируемый алгоритм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 smtClean="0"/>
                        <a:t>30</a:t>
                      </a:r>
                      <a:r>
                        <a:rPr lang="en-US" sz="1600" dirty="0" smtClean="0"/>
                        <a:t>.05</a:t>
                      </a:r>
                      <a:endParaRPr sz="1600" b="0" i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-</a:t>
                      </a:r>
                      <a:endParaRPr sz="1600" b="0" i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>
            <a:spLocks noGrp="1"/>
          </p:cNvSpPr>
          <p:nvPr>
            <p:ph type="title"/>
          </p:nvPr>
        </p:nvSpPr>
        <p:spPr>
          <a:xfrm>
            <a:off x="2627312" y="1916112"/>
            <a:ext cx="3313112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Вопросы?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1042</Words>
  <Application>Microsoft Office PowerPoint</Application>
  <PresentationFormat>Экран (4:3)</PresentationFormat>
  <Paragraphs>276</Paragraphs>
  <Slides>14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1_Тема Office</vt:lpstr>
      <vt:lpstr>2_Тема Office</vt:lpstr>
      <vt:lpstr>Слайд 1</vt:lpstr>
      <vt:lpstr>Цель и задачи курса</vt:lpstr>
      <vt:lpstr>Структура курса</vt:lpstr>
      <vt:lpstr>Анализ Больших данных. On-line</vt:lpstr>
      <vt:lpstr>Структура курса</vt:lpstr>
      <vt:lpstr>Анализ данных (Обязательная часть)</vt:lpstr>
      <vt:lpstr>План доклада №1</vt:lpstr>
      <vt:lpstr>План доклада №2</vt:lpstr>
      <vt:lpstr>Масштабируемый анализ данных (Опциональная часть)</vt:lpstr>
      <vt:lpstr>План доклада №3 (Опциональный)</vt:lpstr>
      <vt:lpstr>Оценка знаний</vt:lpstr>
      <vt:lpstr>Оценка знаний. Теоретическая часть</vt:lpstr>
      <vt:lpstr>Оценка знаний. Практическая часть</vt:lpstr>
      <vt:lpstr>Вопросы?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Admin</dc:creator>
  <cp:lastModifiedBy>ivan</cp:lastModifiedBy>
  <cp:revision>1</cp:revision>
  <dcterms:created xsi:type="dcterms:W3CDTF">2010-02-09T06:31:41Z</dcterms:created>
  <dcterms:modified xsi:type="dcterms:W3CDTF">2026-02-15T16:05:16Z</dcterms:modified>
</cp:coreProperties>
</file>